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CAD5F6-022E-41C4-B4FA-7F5E06A37F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07111F">
              <a:alpha val="90196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3588F-3959-4E66-9ADA-0557DB38546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819150" cy="5715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2872F1-13B8-4E68-9AD9-EB65D5D2B748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25D9FF"/>
                </a:solidFill>
              </a:defRPr>
            </a:pPr>
            <a:r>
              <a:rPr sz="1350" b="1" i="0">
                <a:solidFill>
                  <a:srgbClr val="25D9FF"/>
                </a:solidFill>
              </a:rPr>
              <a:t>MARKETCAR CONNECT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C88834-F572-496C-BBB2-86B0BB38E9D8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4857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 i="0">
                <a:solidFill>
                  <a:srgbClr val="F7FAFF"/>
                </a:solidFill>
              </a:defRPr>
            </a:pPr>
            <a:r>
              <a:rPr sz="3900" b="1" i="0">
                <a:solidFill>
                  <a:srgbClr val="F7FAFF"/>
                </a:solidFill>
              </a:rPr>
              <a:t>Self‑Hosted WebRTC</a:t>
            </a:r>
          </a:p>
          <a:p>
            <a:pPr algn="l">
              <a:defRPr sz="3900" b="1" i="0">
                <a:solidFill>
                  <a:srgbClr val="F7FAFF"/>
                </a:solidFill>
              </a:defRPr>
            </a:pPr>
            <a:r>
              <a:rPr sz="3900" b="1" i="0">
                <a:solidFill>
                  <a:srgbClr val="F7FAFF"/>
                </a:solidFill>
              </a:rPr>
              <a:t>Across a Routed Network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8966F-3640-433A-BFDE-29122FF1EAC5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 i="0">
                <a:solidFill>
                  <a:srgbClr val="D9E9FA"/>
                </a:solidFill>
              </a:defRPr>
            </a:pPr>
            <a:r>
              <a:rPr sz="1650" b="0" i="0">
                <a:solidFill>
                  <a:srgbClr val="D9E9FA"/>
                </a:solidFill>
              </a:rPr>
              <a:t>MiroTalk P2P • Proxmox • Docker • Containerlab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6656498-612B-413A-89E5-DB938D9013BD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4267200" cy="0"/>
          </a:xfrm>
          <a:prstGeom prst="line">
            <a:avLst/>
          </a:prstGeom>
          <a:noFill/>
          <a:ln w="9525">
            <a:solidFill>
              <a:srgbClr val="2D557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7EB24E-4212-498F-B915-423BBE24CA98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Network Programming Project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B456A4-D351-401C-8DAA-93279646D65F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Prepared by Izz Aldeen Mansour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327D85-69A7-4906-B274-997CC082E57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617990"/>
                </a:solidFill>
              </a:defRPr>
            </a:pPr>
            <a:r>
              <a:rPr sz="1200" b="0" i="0">
                <a:solidFill>
                  <a:srgbClr val="617990"/>
                </a:solidFill>
              </a:rPr>
              <a:t>An‑Najah 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166794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A1C089C-DCA1-4E09-A8FA-BC7144AF01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565625-8E72-44F9-B336-CBFDCE6716E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75DA1E-1D41-4BCF-B4FF-11B7E62E571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The goal was bigger than running a video app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BB1D201-25CF-46C7-8A2D-8EFA19A7C3D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57771-18FE-4B01-A4C0-46524BE27B7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8EA9A-D2B7-450D-99FE-876EB8A11D5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3A8EE8-5A08-452E-BB4D-3E53D2C6A4EF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5095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 i="0">
                <a:solidFill>
                  <a:srgbClr val="F7FAFF"/>
                </a:solidFill>
              </a:defRPr>
            </a:pPr>
            <a:r>
              <a:rPr sz="2550" b="1" i="0">
                <a:solidFill>
                  <a:srgbClr val="F7FAFF"/>
                </a:solidFill>
              </a:rPr>
              <a:t>The course required a real service,</a:t>
            </a:r>
          </a:p>
          <a:p>
            <a:pPr algn="l">
              <a:defRPr sz="2550" b="1" i="0">
                <a:solidFill>
                  <a:srgbClr val="F7FAFF"/>
                </a:solidFill>
              </a:defRPr>
            </a:pPr>
            <a:r>
              <a:rPr sz="2550" b="1" i="0">
                <a:solidFill>
                  <a:srgbClr val="F7FAFF"/>
                </a:solidFill>
              </a:rPr>
              <a:t>inside a real network path.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3F608-4B01-45D6-AE1E-BF9CA8D8CD84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9DB2C9"/>
                </a:solidFill>
              </a:defRPr>
            </a:pPr>
            <a:r>
              <a:rPr sz="1500" b="0" i="0">
                <a:solidFill>
                  <a:srgbClr val="9DB2C9"/>
                </a:solidFill>
              </a:rPr>
              <a:t>Success meant proving the complete chain — not only opening a webpage.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DE44E9-D5C1-4B93-9E24-75704AFB29D3}"/>
              </a:ext>
            </a:extLst>
          </p:cNvPr>
          <p:cNvSpPr>
            <a:spLocks noGrp="1"/>
          </p:cNvSpPr>
          <p:nvPr/>
        </p:nvSpPr>
        <p:spPr>
          <a:xfrm>
            <a:off x="6477000" y="160020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25D9FF"/>
                </a:solidFill>
              </a:defRPr>
            </a:pPr>
            <a:r>
              <a:rPr sz="2100" b="1" i="0">
                <a:solidFill>
                  <a:srgbClr val="25D9FF"/>
                </a:solidFill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485405-2529-482E-B606-AE89A4C72E7B}"/>
              </a:ext>
            </a:extLst>
          </p:cNvPr>
          <p:cNvSpPr>
            <a:spLocks noGrp="1"/>
          </p:cNvSpPr>
          <p:nvPr/>
        </p:nvSpPr>
        <p:spPr>
          <a:xfrm>
            <a:off x="7296150" y="1581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F7FAFF"/>
                </a:solidFill>
              </a:defRPr>
            </a:pPr>
            <a:r>
              <a:rPr sz="1875" b="1" i="0">
                <a:solidFill>
                  <a:srgbClr val="F7FAFF"/>
                </a:solidFill>
              </a:rPr>
              <a:t>Deploy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42B554-1466-4D7B-84B8-B011F9E8CB25}"/>
              </a:ext>
            </a:extLst>
          </p:cNvPr>
          <p:cNvSpPr>
            <a:spLocks noGrp="1"/>
          </p:cNvSpPr>
          <p:nvPr/>
        </p:nvSpPr>
        <p:spPr>
          <a:xfrm>
            <a:off x="7296150" y="19240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Host a real-time application on a server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7B52B83-53C1-4D00-BE81-3F289991D4C8}"/>
              </a:ext>
            </a:extLst>
          </p:cNvPr>
          <p:cNvSpPr>
            <a:spLocks noGrp="1"/>
          </p:cNvSpPr>
          <p:nvPr/>
        </p:nvSpPr>
        <p:spPr>
          <a:xfrm>
            <a:off x="6781800" y="2190750"/>
            <a:ext cx="0" cy="600075"/>
          </a:xfrm>
          <a:prstGeom prst="line">
            <a:avLst/>
          </a:prstGeom>
          <a:noFill/>
          <a:ln w="19050">
            <a:solidFill>
              <a:srgbClr val="23415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93865-BBBC-4163-9E80-D6DD3245A40E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7357FF"/>
                </a:solidFill>
              </a:defRPr>
            </a:pPr>
            <a:r>
              <a:rPr sz="2100" b="1" i="0">
                <a:solidFill>
                  <a:srgbClr val="7357FF"/>
                </a:solidFill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3DDE6-2D82-45B8-8EF5-FF4FF56A7CF3}"/>
              </a:ext>
            </a:extLst>
          </p:cNvPr>
          <p:cNvSpPr>
            <a:spLocks noGrp="1"/>
          </p:cNvSpPr>
          <p:nvPr/>
        </p:nvSpPr>
        <p:spPr>
          <a:xfrm>
            <a:off x="7296150" y="28384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F7FAFF"/>
                </a:solidFill>
              </a:defRPr>
            </a:pPr>
            <a:r>
              <a:rPr sz="1875" b="1" i="0">
                <a:solidFill>
                  <a:srgbClr val="F7FAFF"/>
                </a:solidFill>
              </a:rPr>
              <a:t>Route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B33EE-563D-4E94-B98D-287B53C97087}"/>
              </a:ext>
            </a:extLst>
          </p:cNvPr>
          <p:cNvSpPr>
            <a:spLocks noGrp="1"/>
          </p:cNvSpPr>
          <p:nvPr/>
        </p:nvSpPr>
        <p:spPr>
          <a:xfrm>
            <a:off x="7296150" y="31813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Reach it from isolated client networks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A25A2BE-4891-4EC2-A8C6-34E0AD84DDCE}"/>
              </a:ext>
            </a:extLst>
          </p:cNvPr>
          <p:cNvSpPr>
            <a:spLocks noGrp="1"/>
          </p:cNvSpPr>
          <p:nvPr/>
        </p:nvSpPr>
        <p:spPr>
          <a:xfrm>
            <a:off x="6781800" y="3448050"/>
            <a:ext cx="0" cy="600075"/>
          </a:xfrm>
          <a:prstGeom prst="line">
            <a:avLst/>
          </a:prstGeom>
          <a:noFill/>
          <a:ln w="19050">
            <a:solidFill>
              <a:srgbClr val="23415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28789-1372-4876-ACEA-8728DF36780C}"/>
              </a:ext>
            </a:extLst>
          </p:cNvPr>
          <p:cNvSpPr>
            <a:spLocks noGrp="1"/>
          </p:cNvSpPr>
          <p:nvPr/>
        </p:nvSpPr>
        <p:spPr>
          <a:xfrm>
            <a:off x="6477000" y="411480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25D9FF"/>
                </a:solidFill>
              </a:defRPr>
            </a:pPr>
            <a:r>
              <a:rPr sz="2100" b="1" i="0">
                <a:solidFill>
                  <a:srgbClr val="25D9FF"/>
                </a:solidFill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68450D-0F5E-4026-87BB-D60C227E0702}"/>
              </a:ext>
            </a:extLst>
          </p:cNvPr>
          <p:cNvSpPr>
            <a:spLocks noGrp="1"/>
          </p:cNvSpPr>
          <p:nvPr/>
        </p:nvSpPr>
        <p:spPr>
          <a:xfrm>
            <a:off x="7296150" y="4095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F7FAFF"/>
                </a:solidFill>
              </a:defRPr>
            </a:pPr>
            <a:r>
              <a:rPr sz="1875" b="1" i="0">
                <a:solidFill>
                  <a:srgbClr val="F7FAFF"/>
                </a:solidFill>
              </a:rPr>
              <a:t>Integrate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7A8FCB-0F65-45FA-8BCE-A6527C7CF541}"/>
              </a:ext>
            </a:extLst>
          </p:cNvPr>
          <p:cNvSpPr>
            <a:spLocks noGrp="1"/>
          </p:cNvSpPr>
          <p:nvPr/>
        </p:nvSpPr>
        <p:spPr>
          <a:xfrm>
            <a:off x="7296150" y="44386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Consume the service from another application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76867E-1F9A-498A-8047-ED3F12DA0C06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APPLICATION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38D17F0-9267-4B00-B57F-C3416F626C58}"/>
              </a:ext>
            </a:extLst>
          </p:cNvPr>
          <p:cNvSpPr>
            <a:spLocks noGrp="1"/>
          </p:cNvSpPr>
          <p:nvPr/>
        </p:nvSpPr>
        <p:spPr>
          <a:xfrm>
            <a:off x="2133600" y="5629275"/>
            <a:ext cx="2343150" cy="0"/>
          </a:xfrm>
          <a:prstGeom prst="line">
            <a:avLst/>
          </a:prstGeom>
          <a:noFill/>
          <a:ln w="19050">
            <a:solidFill>
              <a:srgbClr val="25D9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589663-C1B6-4AFD-B1CD-D2514E575F9E}"/>
              </a:ext>
            </a:extLst>
          </p:cNvPr>
          <p:cNvSpPr>
            <a:spLocks noGrp="1"/>
          </p:cNvSpPr>
          <p:nvPr/>
        </p:nvSpPr>
        <p:spPr>
          <a:xfrm>
            <a:off x="4810125" y="55054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7357FF"/>
                </a:solidFill>
              </a:defRPr>
            </a:pPr>
            <a:r>
              <a:rPr sz="1050" b="1" i="0">
                <a:solidFill>
                  <a:srgbClr val="7357FF"/>
                </a:solidFill>
              </a:rPr>
              <a:t>NETWORK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F2D05926-9321-4F58-B96D-50396C17A93E}"/>
              </a:ext>
            </a:extLst>
          </p:cNvPr>
          <p:cNvSpPr>
            <a:spLocks noGrp="1"/>
          </p:cNvSpPr>
          <p:nvPr/>
        </p:nvSpPr>
        <p:spPr>
          <a:xfrm>
            <a:off x="6000750" y="5629275"/>
            <a:ext cx="2000250" cy="0"/>
          </a:xfrm>
          <a:prstGeom prst="line">
            <a:avLst/>
          </a:prstGeom>
          <a:noFill/>
          <a:ln w="19050">
            <a:solidFill>
              <a:srgbClr val="7357F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50A573-3902-4F9A-A578-18D69F7D9445}"/>
              </a:ext>
            </a:extLst>
          </p:cNvPr>
          <p:cNvSpPr>
            <a:spLocks noGrp="1"/>
          </p:cNvSpPr>
          <p:nvPr/>
        </p:nvSpPr>
        <p:spPr>
          <a:xfrm>
            <a:off x="8334375" y="55054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41E5A1"/>
                </a:solidFill>
              </a:defRPr>
            </a:pPr>
            <a:r>
              <a:rPr sz="1050" b="1" i="0">
                <a:solidFill>
                  <a:srgbClr val="41E5A1"/>
                </a:solidFill>
              </a:rPr>
              <a:t>SERVICE INTEGRATION</a:t>
            </a:r>
          </a:p>
        </p:txBody>
      </p:sp>
    </p:spTree>
    <p:extLst>
      <p:ext uri="{BB962C8B-B14F-4D97-AF65-F5344CB8AC3E}">
        <p14:creationId xmlns:p14="http://schemas.microsoft.com/office/powerpoint/2010/main" val="55745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682BA82-5DA1-424D-BEAC-9A97C1FB20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328EAE-DB40-4015-BE6B-913DBC80E9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84E7B9-0D8B-4F86-8377-86AAC9BAD30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We evolved the project in five validated stages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81C89B4-6595-4F81-AF2C-AEE42685D9E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895ED-B9A2-474E-9DE7-7641CEB8567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C18589-C2A4-4661-AB9D-B5497D47ECD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EACBDCD-61B9-4579-8C7C-3C16F67AF321}"/>
              </a:ext>
            </a:extLst>
          </p:cNvPr>
          <p:cNvSpPr>
            <a:spLocks noGrp="1"/>
          </p:cNvSpPr>
          <p:nvPr/>
        </p:nvSpPr>
        <p:spPr>
          <a:xfrm>
            <a:off x="1123950" y="3333750"/>
            <a:ext cx="9925050" cy="0"/>
          </a:xfrm>
          <a:prstGeom prst="line">
            <a:avLst/>
          </a:prstGeom>
          <a:noFill/>
          <a:ln w="47625">
            <a:solidFill>
              <a:srgbClr val="23415E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371261-637E-4710-9BCE-882DFB7A0832}"/>
              </a:ext>
            </a:extLst>
          </p:cNvPr>
          <p:cNvSpPr>
            <a:spLocks noGrp="1"/>
          </p:cNvSpPr>
          <p:nvPr/>
        </p:nvSpPr>
        <p:spPr>
          <a:xfrm>
            <a:off x="1219200" y="3000375"/>
            <a:ext cx="666750" cy="666750"/>
          </a:xfrm>
          <a:prstGeom prst="ellipse">
            <a:avLst/>
          </a:prstGeom>
          <a:solidFill>
            <a:srgbClr val="10263C"/>
          </a:solidFill>
          <a:ln w="38100">
            <a:solidFill>
              <a:srgbClr val="25D9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306A2-E0B9-4C21-A700-34B21E869BAD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66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25D9FF"/>
                </a:solidFill>
              </a:defRPr>
            </a:pPr>
            <a:r>
              <a:rPr sz="2100" b="1" i="0">
                <a:solidFill>
                  <a:srgbClr val="25D9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0598D9-CAB9-4F9A-932E-D895340E342A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LocalConnect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756CB5-2C56-40F7-B619-B5598ACD628A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Node.js + Socket.IO</a:t>
            </a:r>
          </a:p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proof of concept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D1349-AAD2-49B4-B017-A3D8866D88AE}"/>
              </a:ext>
            </a:extLst>
          </p:cNvPr>
          <p:cNvSpPr>
            <a:spLocks noGrp="1"/>
          </p:cNvSpPr>
          <p:nvPr/>
        </p:nvSpPr>
        <p:spPr>
          <a:xfrm>
            <a:off x="3333750" y="3000375"/>
            <a:ext cx="666750" cy="666750"/>
          </a:xfrm>
          <a:prstGeom prst="ellipse">
            <a:avLst/>
          </a:prstGeom>
          <a:solidFill>
            <a:srgbClr val="10263C"/>
          </a:solidFill>
          <a:ln w="38100">
            <a:solidFill>
              <a:srgbClr val="25D9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AD7841-2783-4906-9175-D4AC41B28CFC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66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25D9FF"/>
                </a:solidFill>
              </a:defRPr>
            </a:pPr>
            <a:r>
              <a:rPr sz="2100" b="1" i="0">
                <a:solidFill>
                  <a:srgbClr val="25D9FF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EC5FD4-5977-4C6F-80F6-7BCE4D1FE548}"/>
              </a:ext>
            </a:extLst>
          </p:cNvPr>
          <p:cNvSpPr>
            <a:spLocks noGrp="1"/>
          </p:cNvSpPr>
          <p:nvPr/>
        </p:nvSpPr>
        <p:spPr>
          <a:xfrm>
            <a:off x="2762250" y="40005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MiroTalk P2P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306EB8-AF4D-44F1-B168-E94F646FA762}"/>
              </a:ext>
            </a:extLst>
          </p:cNvPr>
          <p:cNvSpPr>
            <a:spLocks noGrp="1"/>
          </p:cNvSpPr>
          <p:nvPr/>
        </p:nvSpPr>
        <p:spPr>
          <a:xfrm>
            <a:off x="2647950" y="44005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Real WebRTC rooms</a:t>
            </a:r>
          </a:p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and media features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4825B58-4287-4B17-869F-C91D6886CAD5}"/>
              </a:ext>
            </a:extLst>
          </p:cNvPr>
          <p:cNvSpPr>
            <a:spLocks noGrp="1"/>
          </p:cNvSpPr>
          <p:nvPr/>
        </p:nvSpPr>
        <p:spPr>
          <a:xfrm>
            <a:off x="5448300" y="3000375"/>
            <a:ext cx="666750" cy="666750"/>
          </a:xfrm>
          <a:prstGeom prst="ellipse">
            <a:avLst/>
          </a:prstGeom>
          <a:solidFill>
            <a:srgbClr val="10263C"/>
          </a:solidFill>
          <a:ln w="38100">
            <a:solidFill>
              <a:srgbClr val="735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D7ED92-F8D5-404F-8502-B8C9DC06E39A}"/>
              </a:ext>
            </a:extLst>
          </p:cNvPr>
          <p:cNvSpPr>
            <a:spLocks noGrp="1"/>
          </p:cNvSpPr>
          <p:nvPr/>
        </p:nvSpPr>
        <p:spPr>
          <a:xfrm>
            <a:off x="5448300" y="3028950"/>
            <a:ext cx="66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7357FF"/>
                </a:solidFill>
              </a:defRPr>
            </a:pPr>
            <a:r>
              <a:rPr sz="2100" b="1" i="0">
                <a:solidFill>
                  <a:srgbClr val="7357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F6812-3535-40BC-9AE4-B8D5B6270493}"/>
              </a:ext>
            </a:extLst>
          </p:cNvPr>
          <p:cNvSpPr>
            <a:spLocks noGrp="1"/>
          </p:cNvSpPr>
          <p:nvPr/>
        </p:nvSpPr>
        <p:spPr>
          <a:xfrm>
            <a:off x="4876800" y="17907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Proxmox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36A3B5-C476-4B45-846B-699541DD75B7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24/7-style Ubuntu</a:t>
            </a:r>
          </a:p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server environment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FE90F0A-0FDA-4645-BCCB-04D4814F5AAF}"/>
              </a:ext>
            </a:extLst>
          </p:cNvPr>
          <p:cNvSpPr>
            <a:spLocks noGrp="1"/>
          </p:cNvSpPr>
          <p:nvPr/>
        </p:nvSpPr>
        <p:spPr>
          <a:xfrm>
            <a:off x="7562850" y="3000375"/>
            <a:ext cx="666750" cy="666750"/>
          </a:xfrm>
          <a:prstGeom prst="ellipse">
            <a:avLst/>
          </a:prstGeom>
          <a:solidFill>
            <a:srgbClr val="10263C"/>
          </a:solidFill>
          <a:ln w="38100">
            <a:solidFill>
              <a:srgbClr val="735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1640F4-68D4-48DB-AB33-2589CD456EA4}"/>
              </a:ext>
            </a:extLst>
          </p:cNvPr>
          <p:cNvSpPr>
            <a:spLocks noGrp="1"/>
          </p:cNvSpPr>
          <p:nvPr/>
        </p:nvSpPr>
        <p:spPr>
          <a:xfrm>
            <a:off x="7562850" y="3028950"/>
            <a:ext cx="66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7357FF"/>
                </a:solidFill>
              </a:defRPr>
            </a:pPr>
            <a:r>
              <a:rPr sz="2100" b="1" i="0">
                <a:solidFill>
                  <a:srgbClr val="7357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60F104-75C5-434C-BBBD-2622BCEC9225}"/>
              </a:ext>
            </a:extLst>
          </p:cNvPr>
          <p:cNvSpPr>
            <a:spLocks noGrp="1"/>
          </p:cNvSpPr>
          <p:nvPr/>
        </p:nvSpPr>
        <p:spPr>
          <a:xfrm>
            <a:off x="6991350" y="40005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Containerlab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05A75A-9701-49EC-861B-96FE1319860C}"/>
              </a:ext>
            </a:extLst>
          </p:cNvPr>
          <p:cNvSpPr>
            <a:spLocks noGrp="1"/>
          </p:cNvSpPr>
          <p:nvPr/>
        </p:nvSpPr>
        <p:spPr>
          <a:xfrm>
            <a:off x="6877050" y="44005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Two routed client</a:t>
            </a:r>
          </a:p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networks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505A912-7A18-46CF-9F29-950A1E7D671A}"/>
              </a:ext>
            </a:extLst>
          </p:cNvPr>
          <p:cNvSpPr>
            <a:spLocks noGrp="1"/>
          </p:cNvSpPr>
          <p:nvPr/>
        </p:nvSpPr>
        <p:spPr>
          <a:xfrm>
            <a:off x="9677400" y="3000375"/>
            <a:ext cx="666750" cy="666750"/>
          </a:xfrm>
          <a:prstGeom prst="ellipse">
            <a:avLst/>
          </a:prstGeom>
          <a:solidFill>
            <a:srgbClr val="10263C"/>
          </a:solidFill>
          <a:ln w="38100">
            <a:solidFill>
              <a:srgbClr val="41E5A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F7D142-311B-4E58-89F1-4C92772AFC0E}"/>
              </a:ext>
            </a:extLst>
          </p:cNvPr>
          <p:cNvSpPr>
            <a:spLocks noGrp="1"/>
          </p:cNvSpPr>
          <p:nvPr/>
        </p:nvSpPr>
        <p:spPr>
          <a:xfrm>
            <a:off x="9677400" y="3028950"/>
            <a:ext cx="66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41E5A1"/>
                </a:solidFill>
              </a:defRPr>
            </a:pPr>
            <a:r>
              <a:rPr sz="2100" b="1" i="0">
                <a:solidFill>
                  <a:srgbClr val="41E5A1"/>
                </a:solidFill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2317E5-29AB-4228-887A-BC47A7A187B7}"/>
              </a:ext>
            </a:extLst>
          </p:cNvPr>
          <p:cNvSpPr>
            <a:spLocks noGrp="1"/>
          </p:cNvSpPr>
          <p:nvPr/>
        </p:nvSpPr>
        <p:spPr>
          <a:xfrm>
            <a:off x="9105900" y="17907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MarketCar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41DAC3-1B23-4D9E-AE08-45A5D8956E08}"/>
              </a:ext>
            </a:extLst>
          </p:cNvPr>
          <p:cNvSpPr>
            <a:spLocks noGrp="1"/>
          </p:cNvSpPr>
          <p:nvPr/>
        </p:nvSpPr>
        <p:spPr>
          <a:xfrm>
            <a:off x="8991600" y="21907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Consumer app launches</a:t>
            </a:r>
          </a:p>
          <a:p>
            <a:pPr algn="ctr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meeting rooms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52B4FC-0323-4EA1-999D-278092B6BF98}"/>
              </a:ext>
            </a:extLst>
          </p:cNvPr>
          <p:cNvSpPr>
            <a:spLocks noGrp="1"/>
          </p:cNvSpPr>
          <p:nvPr/>
        </p:nvSpPr>
        <p:spPr>
          <a:xfrm>
            <a:off x="2667000" y="56578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Each stage reduced risk before the next layer was added.</a:t>
            </a:r>
          </a:p>
        </p:txBody>
      </p:sp>
    </p:spTree>
    <p:extLst>
      <p:ext uri="{BB962C8B-B14F-4D97-AF65-F5344CB8AC3E}">
        <p14:creationId xmlns:p14="http://schemas.microsoft.com/office/powerpoint/2010/main" val="1947169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4196FDE-8EB2-4694-BFD9-71E4678974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83393A-DA73-4E4B-B7AD-2B99E5DDA0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088E0-B534-4A6E-887C-EECDC5C520B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The final design separates consumer, service, and network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CF38F88-F56A-452A-BA84-73844C3326D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CB57E-4F4D-47F5-93D2-A1C8451D9D0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6C4DE-297C-4520-AA95-7FBE99DA2A2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A42F99A-D576-4F06-8DED-7665B8A34AF0}"/>
              </a:ext>
            </a:extLst>
          </p:cNvPr>
          <p:cNvSpPr>
            <a:spLocks noGrp="1"/>
          </p:cNvSpPr>
          <p:nvPr/>
        </p:nvSpPr>
        <p:spPr>
          <a:xfrm>
            <a:off x="2381250" y="3095625"/>
            <a:ext cx="2171700" cy="0"/>
          </a:xfrm>
          <a:prstGeom prst="line">
            <a:avLst/>
          </a:prstGeom>
          <a:noFill/>
          <a:ln w="38100">
            <a:solidFill>
              <a:srgbClr val="25D9FF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47CA053-C3A8-40D3-90CB-114E9DB2D34D}"/>
              </a:ext>
            </a:extLst>
          </p:cNvPr>
          <p:cNvSpPr>
            <a:spLocks noGrp="1"/>
          </p:cNvSpPr>
          <p:nvPr/>
        </p:nvSpPr>
        <p:spPr>
          <a:xfrm>
            <a:off x="7581900" y="3095625"/>
            <a:ext cx="2114550" cy="0"/>
          </a:xfrm>
          <a:prstGeom prst="line">
            <a:avLst/>
          </a:prstGeom>
          <a:noFill/>
          <a:ln w="38100">
            <a:solidFill>
              <a:srgbClr val="7357F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6D0B8E-EA91-4CA6-BA6C-0A5ACC240DF1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47650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19050">
            <a:solidFill>
              <a:srgbClr val="41E5A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4A5CF-E9C6-46CA-B8B0-AC7A66B3AF0B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MarketCar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ADBC8-EC78-4A89-BE03-DF56845C17AC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2286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Consumer application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port 5001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AB3CCD-F417-418C-BE90-075C4AB1B899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2647950" cy="1885950"/>
          </a:xfrm>
          <a:prstGeom prst="roundRect">
            <a:avLst>
              <a:gd name="adj" fmla="val 6061"/>
            </a:avLst>
          </a:prstGeom>
          <a:solidFill>
            <a:srgbClr val="10263C"/>
          </a:solidFill>
          <a:ln w="19050">
            <a:solidFill>
              <a:srgbClr val="25D9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20142-A836-484E-ABCE-98D003D3CF8D}"/>
              </a:ext>
            </a:extLst>
          </p:cNvPr>
          <p:cNvSpPr>
            <a:spLocks noGrp="1"/>
          </p:cNvSpPr>
          <p:nvPr/>
        </p:nvSpPr>
        <p:spPr>
          <a:xfrm>
            <a:off x="4972050" y="2266950"/>
            <a:ext cx="2419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MiroTalk P2P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E9EAA-BF10-4B0B-9E81-DC9DB0EB6C3C}"/>
              </a:ext>
            </a:extLst>
          </p:cNvPr>
          <p:cNvSpPr>
            <a:spLocks noGrp="1"/>
          </p:cNvSpPr>
          <p:nvPr/>
        </p:nvSpPr>
        <p:spPr>
          <a:xfrm>
            <a:off x="4953000" y="2590800"/>
            <a:ext cx="24574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Self-hosted WebRTC service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port 3000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4A375-7E20-4C5E-8F5C-E1EB7462CB02}"/>
              </a:ext>
            </a:extLst>
          </p:cNvPr>
          <p:cNvSpPr>
            <a:spLocks noGrp="1"/>
          </p:cNvSpPr>
          <p:nvPr/>
        </p:nvSpPr>
        <p:spPr>
          <a:xfrm>
            <a:off x="9029700" y="2343150"/>
            <a:ext cx="247650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19050">
            <a:solidFill>
              <a:srgbClr val="7357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CF0040-6D21-40BF-9941-84FB7C707F10}"/>
              </a:ext>
            </a:extLst>
          </p:cNvPr>
          <p:cNvSpPr>
            <a:spLocks noGrp="1"/>
          </p:cNvSpPr>
          <p:nvPr/>
        </p:nvSpPr>
        <p:spPr>
          <a:xfrm>
            <a:off x="9144000" y="24574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Buyer + Seller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22A72B-DC37-4BAC-AE94-A7A60FC8135C}"/>
              </a:ext>
            </a:extLst>
          </p:cNvPr>
          <p:cNvSpPr>
            <a:spLocks noGrp="1"/>
          </p:cNvSpPr>
          <p:nvPr/>
        </p:nvSpPr>
        <p:spPr>
          <a:xfrm>
            <a:off x="9124950" y="2781300"/>
            <a:ext cx="2286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Video • audio • chat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screen sharing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6FDA8C-AFD9-450F-8257-F27FECBC458E}"/>
              </a:ext>
            </a:extLst>
          </p:cNvPr>
          <p:cNvSpPr>
            <a:spLocks noGrp="1"/>
          </p:cNvSpPr>
          <p:nvPr/>
        </p:nvSpPr>
        <p:spPr>
          <a:xfrm>
            <a:off x="3333750" y="27622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25D9FF"/>
                </a:solidFill>
              </a:defRPr>
            </a:pPr>
            <a:r>
              <a:rPr sz="1125" b="1" i="0">
                <a:solidFill>
                  <a:srgbClr val="25D9FF"/>
                </a:solidFill>
              </a:rPr>
              <a:t>room URL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6D2775-D676-4091-A53D-A26B43AF5EB3}"/>
              </a:ext>
            </a:extLst>
          </p:cNvPr>
          <p:cNvSpPr>
            <a:spLocks noGrp="1"/>
          </p:cNvSpPr>
          <p:nvPr/>
        </p:nvSpPr>
        <p:spPr>
          <a:xfrm>
            <a:off x="7658100" y="27622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7357FF"/>
                </a:solidFill>
              </a:defRPr>
            </a:pPr>
            <a:r>
              <a:rPr sz="1125" b="1" i="0">
                <a:solidFill>
                  <a:srgbClr val="7357FF"/>
                </a:solidFill>
              </a:rPr>
              <a:t>real-time media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59B282-1CD3-4741-A581-62F9D5FF2F10}"/>
              </a:ext>
            </a:extLst>
          </p:cNvPr>
          <p:cNvSpPr>
            <a:spLocks noGrp="1"/>
          </p:cNvSpPr>
          <p:nvPr/>
        </p:nvSpPr>
        <p:spPr>
          <a:xfrm>
            <a:off x="1885950" y="4686300"/>
            <a:ext cx="8420100" cy="990600"/>
          </a:xfrm>
          <a:prstGeom prst="roundRect">
            <a:avLst>
              <a:gd name="adj" fmla="val 11538"/>
            </a:avLst>
          </a:prstGeom>
          <a:solidFill>
            <a:srgbClr val="0A1726"/>
          </a:solidFill>
          <a:ln w="9525">
            <a:solidFill>
              <a:srgbClr val="23415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B6C931-2D10-4654-A708-2808D8BB0E46}"/>
              </a:ext>
            </a:extLst>
          </p:cNvPr>
          <p:cNvSpPr>
            <a:spLocks noGrp="1"/>
          </p:cNvSpPr>
          <p:nvPr/>
        </p:nvSpPr>
        <p:spPr>
          <a:xfrm>
            <a:off x="2133600" y="4838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INFRASTRUCTURE FOUNDATION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E0581D-C408-41D8-8146-EF2FE7CDB5F4}"/>
              </a:ext>
            </a:extLst>
          </p:cNvPr>
          <p:cNvSpPr>
            <a:spLocks noGrp="1"/>
          </p:cNvSpPr>
          <p:nvPr/>
        </p:nvSpPr>
        <p:spPr>
          <a:xfrm>
            <a:off x="2133600" y="5143500"/>
            <a:ext cx="3857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 i="0">
                <a:solidFill>
                  <a:srgbClr val="F7FAFF"/>
                </a:solidFill>
              </a:defRPr>
            </a:pPr>
            <a:r>
              <a:rPr sz="1575" b="1" i="0">
                <a:solidFill>
                  <a:srgbClr val="F7FAFF"/>
                </a:solidFill>
              </a:rPr>
              <a:t>Proxmox → Ubuntu pserv → Docker Compose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F63321-F48B-4D7F-87CC-DF036239881E}"/>
              </a:ext>
            </a:extLst>
          </p:cNvPr>
          <p:cNvSpPr>
            <a:spLocks noGrp="1"/>
          </p:cNvSpPr>
          <p:nvPr/>
        </p:nvSpPr>
        <p:spPr>
          <a:xfrm>
            <a:off x="6667500" y="4838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NETWORK VALIDATION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F1C5DD-4F2E-4637-B57E-CF6ADBC6131C}"/>
              </a:ext>
            </a:extLst>
          </p:cNvPr>
          <p:cNvSpPr>
            <a:spLocks noGrp="1"/>
          </p:cNvSpPr>
          <p:nvPr/>
        </p:nvSpPr>
        <p:spPr>
          <a:xfrm>
            <a:off x="6667500" y="51435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 i="0">
                <a:solidFill>
                  <a:srgbClr val="F7FAFF"/>
                </a:solidFill>
              </a:defRPr>
            </a:pPr>
            <a:r>
              <a:rPr sz="1575" b="1" i="0">
                <a:solidFill>
                  <a:srgbClr val="F7FAFF"/>
                </a:solidFill>
              </a:rPr>
              <a:t>Containerlab routed clients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9060E5-077E-4C53-9C0C-1D776510B1B7}"/>
              </a:ext>
            </a:extLst>
          </p:cNvPr>
          <p:cNvSpPr>
            <a:spLocks noGrp="1"/>
          </p:cNvSpPr>
          <p:nvPr/>
        </p:nvSpPr>
        <p:spPr>
          <a:xfrm>
            <a:off x="5334000" y="4229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41E5A1"/>
                </a:solidFill>
              </a:defRPr>
            </a:pPr>
            <a:r>
              <a:rPr sz="1125" b="1" i="0">
                <a:solidFill>
                  <a:srgbClr val="41E5A1"/>
                </a:solidFill>
              </a:rPr>
              <a:t>HTTPS</a:t>
            </a:r>
          </a:p>
        </p:txBody>
      </p:sp>
    </p:spTree>
    <p:extLst>
      <p:ext uri="{BB962C8B-B14F-4D97-AF65-F5344CB8AC3E}">
        <p14:creationId xmlns:p14="http://schemas.microsoft.com/office/powerpoint/2010/main" val="105324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592DB42-9027-4C63-ACD3-3186F09090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009322-A2FC-4DDF-B0D4-9AF6C505594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497CDD-3329-43FA-8F9F-77433B3D196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MiroTalk P2P was the balanced technical choice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F81D8EF-6BFD-4FBE-937E-D24A7A48F410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5E9B5-0D33-4178-89E7-B3D61039B17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F32F1-D03D-4B28-A8A8-D844B80CD83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881880-673A-4398-9014-D0FD6D3EABB7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62300" cy="3371850"/>
          </a:xfrm>
          <a:prstGeom prst="roundRect">
            <a:avLst>
              <a:gd name="adj" fmla="val 4819"/>
            </a:avLst>
          </a:prstGeom>
          <a:solidFill>
            <a:srgbClr val="0B1726"/>
          </a:solidFill>
          <a:ln w="9525">
            <a:solidFill>
              <a:srgbClr val="61799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A24DDF-9083-4C56-B02E-5146BEE2CBFD}"/>
              </a:ext>
            </a:extLst>
          </p:cNvPr>
          <p:cNvSpPr>
            <a:spLocks noGrp="1"/>
          </p:cNvSpPr>
          <p:nvPr/>
        </p:nvSpPr>
        <p:spPr>
          <a:xfrm>
            <a:off x="952500" y="2038350"/>
            <a:ext cx="114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617990"/>
                </a:solidFill>
              </a:defRPr>
            </a:pPr>
            <a:r>
              <a:rPr sz="2850" b="1" i="0">
                <a:solidFill>
                  <a:srgbClr val="617990"/>
                </a:solidFill>
              </a:rPr>
              <a:t>C2C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01F868-02F9-40CE-A8AF-A79A6E4425C4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F7FAFF"/>
                </a:solidFill>
              </a:defRPr>
            </a:pPr>
            <a:r>
              <a:rPr sz="1425" b="1" i="0">
                <a:solidFill>
                  <a:srgbClr val="F7FAFF"/>
                </a:solidFill>
              </a:rPr>
              <a:t>One-to-one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E6C5B7F-7F3A-4369-94F2-D2757ADD26CB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26289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87D539-D491-446F-BA7D-E99A607B2F46}"/>
              </a:ext>
            </a:extLst>
          </p:cNvPr>
          <p:cNvSpPr>
            <a:spLocks noGrp="1"/>
          </p:cNvSpPr>
          <p:nvPr/>
        </p:nvSpPr>
        <p:spPr>
          <a:xfrm>
            <a:off x="971550" y="3390900"/>
            <a:ext cx="95250" cy="95250"/>
          </a:xfrm>
          <a:prstGeom prst="ellipse">
            <a:avLst/>
          </a:prstGeom>
          <a:solidFill>
            <a:srgbClr val="617990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0BFDBC-A698-4185-AC43-3D864AC3980D}"/>
              </a:ext>
            </a:extLst>
          </p:cNvPr>
          <p:cNvSpPr>
            <a:spLocks noGrp="1"/>
          </p:cNvSpPr>
          <p:nvPr/>
        </p:nvSpPr>
        <p:spPr>
          <a:xfrm>
            <a:off x="1200150" y="323850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Simple deployment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2245DE-12B1-4435-B2CC-7105EF61FF63}"/>
              </a:ext>
            </a:extLst>
          </p:cNvPr>
          <p:cNvSpPr>
            <a:spLocks noGrp="1"/>
          </p:cNvSpPr>
          <p:nvPr/>
        </p:nvSpPr>
        <p:spPr>
          <a:xfrm>
            <a:off x="971550" y="3943350"/>
            <a:ext cx="95250" cy="95250"/>
          </a:xfrm>
          <a:prstGeom prst="ellipse">
            <a:avLst/>
          </a:prstGeom>
          <a:solidFill>
            <a:srgbClr val="617990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5AFF33-CBC8-4A00-8B9F-EAE3FBE5F6FD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Limited project scope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4FFEEE-DEE0-4526-8857-1085761F8C41}"/>
              </a:ext>
            </a:extLst>
          </p:cNvPr>
          <p:cNvSpPr>
            <a:spLocks noGrp="1"/>
          </p:cNvSpPr>
          <p:nvPr/>
        </p:nvSpPr>
        <p:spPr>
          <a:xfrm>
            <a:off x="4210050" y="1752600"/>
            <a:ext cx="3162300" cy="3371850"/>
          </a:xfrm>
          <a:prstGeom prst="roundRect">
            <a:avLst>
              <a:gd name="adj" fmla="val 4819"/>
            </a:avLst>
          </a:prstGeom>
          <a:solidFill>
            <a:srgbClr val="0D2940"/>
          </a:solidFill>
          <a:ln w="28575">
            <a:solidFill>
              <a:srgbClr val="25D9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80488E-2767-4F12-BB1A-7F71D467F45D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14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25D9FF"/>
                </a:solidFill>
              </a:defRPr>
            </a:pPr>
            <a:r>
              <a:rPr sz="2850" b="1" i="0">
                <a:solidFill>
                  <a:srgbClr val="25D9FF"/>
                </a:solidFill>
              </a:rPr>
              <a:t>P2P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2ADB24-D073-4817-8F9A-69F6E688704B}"/>
              </a:ext>
            </a:extLst>
          </p:cNvPr>
          <p:cNvSpPr>
            <a:spLocks noGrp="1"/>
          </p:cNvSpPr>
          <p:nvPr/>
        </p:nvSpPr>
        <p:spPr>
          <a:xfrm>
            <a:off x="4476750" y="26098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F7FAFF"/>
                </a:solidFill>
              </a:defRPr>
            </a:pPr>
            <a:r>
              <a:rPr sz="1425" b="1" i="0">
                <a:solidFill>
                  <a:srgbClr val="F7FAFF"/>
                </a:solidFill>
              </a:rPr>
              <a:t>Meeting rooms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B0ECD56-A2FE-4EA5-9466-52E785536EF5}"/>
              </a:ext>
            </a:extLst>
          </p:cNvPr>
          <p:cNvSpPr>
            <a:spLocks noGrp="1"/>
          </p:cNvSpPr>
          <p:nvPr/>
        </p:nvSpPr>
        <p:spPr>
          <a:xfrm>
            <a:off x="4476750" y="3086100"/>
            <a:ext cx="26289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C99C41-38EB-4195-96C8-2C1C0ECDA7E7}"/>
              </a:ext>
            </a:extLst>
          </p:cNvPr>
          <p:cNvSpPr>
            <a:spLocks noGrp="1"/>
          </p:cNvSpPr>
          <p:nvPr/>
        </p:nvSpPr>
        <p:spPr>
          <a:xfrm>
            <a:off x="4495800" y="3390900"/>
            <a:ext cx="95250" cy="95250"/>
          </a:xfrm>
          <a:prstGeom prst="ellipse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F9F7A4-EC8D-4649-8E88-98535B0CCF78}"/>
              </a:ext>
            </a:extLst>
          </p:cNvPr>
          <p:cNvSpPr>
            <a:spLocks noGrp="1"/>
          </p:cNvSpPr>
          <p:nvPr/>
        </p:nvSpPr>
        <p:spPr>
          <a:xfrm>
            <a:off x="4724400" y="323850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Video + audio + chat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2058FC0-6AD4-4867-A3A4-42B0F9643020}"/>
              </a:ext>
            </a:extLst>
          </p:cNvPr>
          <p:cNvSpPr>
            <a:spLocks noGrp="1"/>
          </p:cNvSpPr>
          <p:nvPr/>
        </p:nvSpPr>
        <p:spPr>
          <a:xfrm>
            <a:off x="4495800" y="3943350"/>
            <a:ext cx="95250" cy="95250"/>
          </a:xfrm>
          <a:prstGeom prst="ellipse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2651F9-0D48-446A-B19D-505E30A63B63}"/>
              </a:ext>
            </a:extLst>
          </p:cNvPr>
          <p:cNvSpPr>
            <a:spLocks noGrp="1"/>
          </p:cNvSpPr>
          <p:nvPr/>
        </p:nvSpPr>
        <p:spPr>
          <a:xfrm>
            <a:off x="4724400" y="379095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Screen sharing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A7B79C-F9D6-495D-B8C1-2A314259718A}"/>
              </a:ext>
            </a:extLst>
          </p:cNvPr>
          <p:cNvSpPr>
            <a:spLocks noGrp="1"/>
          </p:cNvSpPr>
          <p:nvPr/>
        </p:nvSpPr>
        <p:spPr>
          <a:xfrm>
            <a:off x="4495800" y="4495800"/>
            <a:ext cx="95250" cy="95250"/>
          </a:xfrm>
          <a:prstGeom prst="ellipse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7B5122-6679-4847-9635-6E4CA1BACB2B}"/>
              </a:ext>
            </a:extLst>
          </p:cNvPr>
          <p:cNvSpPr>
            <a:spLocks noGrp="1"/>
          </p:cNvSpPr>
          <p:nvPr/>
        </p:nvSpPr>
        <p:spPr>
          <a:xfrm>
            <a:off x="4724400" y="434340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Strong course fit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475254-1B75-4B19-BFCD-704E8E7C7D77}"/>
              </a:ext>
            </a:extLst>
          </p:cNvPr>
          <p:cNvSpPr>
            <a:spLocks noGrp="1"/>
          </p:cNvSpPr>
          <p:nvPr/>
        </p:nvSpPr>
        <p:spPr>
          <a:xfrm>
            <a:off x="6019800" y="2076450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25D9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 i="0">
                <a:solidFill>
                  <a:srgbClr val="07111F"/>
                </a:solidFill>
              </a:defRPr>
            </a:pPr>
            <a:r>
              <a:rPr sz="1050" b="1" i="0">
                <a:solidFill>
                  <a:srgbClr val="07111F"/>
                </a:solidFill>
              </a:rPr>
              <a:t>SELECTED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ED6A299-40C9-4209-8C32-14F7DCBBC619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162300" cy="3371850"/>
          </a:xfrm>
          <a:prstGeom prst="roundRect">
            <a:avLst>
              <a:gd name="adj" fmla="val 4819"/>
            </a:avLst>
          </a:prstGeom>
          <a:solidFill>
            <a:srgbClr val="111C35"/>
          </a:solidFill>
          <a:ln w="9525">
            <a:solidFill>
              <a:srgbClr val="735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A24822-5E43-43D4-B8AF-05F3C4EFBD6B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114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7357FF"/>
                </a:solidFill>
              </a:defRPr>
            </a:pPr>
            <a:r>
              <a:rPr sz="2850" b="1" i="0">
                <a:solidFill>
                  <a:srgbClr val="7357FF"/>
                </a:solidFill>
              </a:rPr>
              <a:t>SFU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A3CFBB-BE1C-46C9-BD74-1D07224442EB}"/>
              </a:ext>
            </a:extLst>
          </p:cNvPr>
          <p:cNvSpPr>
            <a:spLocks noGrp="1"/>
          </p:cNvSpPr>
          <p:nvPr/>
        </p:nvSpPr>
        <p:spPr>
          <a:xfrm>
            <a:off x="8001000" y="26098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F7FAFF"/>
                </a:solidFill>
              </a:defRPr>
            </a:pPr>
            <a:r>
              <a:rPr sz="1425" b="1" i="0">
                <a:solidFill>
                  <a:srgbClr val="F7FAFF"/>
                </a:solidFill>
              </a:rPr>
              <a:t>Large conferences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E0CF3A5-E2D3-4B16-B86E-1EFCAC851A1B}"/>
              </a:ext>
            </a:extLst>
          </p:cNvPr>
          <p:cNvSpPr>
            <a:spLocks noGrp="1"/>
          </p:cNvSpPr>
          <p:nvPr/>
        </p:nvSpPr>
        <p:spPr>
          <a:xfrm>
            <a:off x="8001000" y="3086100"/>
            <a:ext cx="26289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4F18A94-CE34-4D1C-8304-75797C076B4D}"/>
              </a:ext>
            </a:extLst>
          </p:cNvPr>
          <p:cNvSpPr>
            <a:spLocks noGrp="1"/>
          </p:cNvSpPr>
          <p:nvPr/>
        </p:nvSpPr>
        <p:spPr>
          <a:xfrm>
            <a:off x="8020050" y="3390900"/>
            <a:ext cx="95250" cy="95250"/>
          </a:xfrm>
          <a:prstGeom prst="ellipse">
            <a:avLst/>
          </a:prstGeom>
          <a:solidFill>
            <a:srgbClr val="7357FF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E7E5F3-0A96-4121-BEA2-17B5DAA5F19A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Higher scalability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B18D2B-999B-4B05-BD17-827E265EC2B1}"/>
              </a:ext>
            </a:extLst>
          </p:cNvPr>
          <p:cNvSpPr>
            <a:spLocks noGrp="1"/>
          </p:cNvSpPr>
          <p:nvPr/>
        </p:nvSpPr>
        <p:spPr>
          <a:xfrm>
            <a:off x="8020050" y="3943350"/>
            <a:ext cx="95250" cy="95250"/>
          </a:xfrm>
          <a:prstGeom prst="ellipse">
            <a:avLst/>
          </a:prstGeom>
          <a:solidFill>
            <a:srgbClr val="7357FF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34F92A-2AE7-48B5-8DFE-8CF0A609DB68}"/>
              </a:ext>
            </a:extLst>
          </p:cNvPr>
          <p:cNvSpPr>
            <a:spLocks noGrp="1"/>
          </p:cNvSpPr>
          <p:nvPr/>
        </p:nvSpPr>
        <p:spPr>
          <a:xfrm>
            <a:off x="8248650" y="379095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Heavier architecture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E2E19A-EFDD-4644-8A32-0A1EA66E9060}"/>
              </a:ext>
            </a:extLst>
          </p:cNvPr>
          <p:cNvSpPr>
            <a:spLocks noGrp="1"/>
          </p:cNvSpPr>
          <p:nvPr/>
        </p:nvSpPr>
        <p:spPr>
          <a:xfrm>
            <a:off x="2143125" y="5524500"/>
            <a:ext cx="790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Enough capability for a convincing demo — without SFU complexity.</a:t>
            </a:r>
          </a:p>
        </p:txBody>
      </p:sp>
    </p:spTree>
    <p:extLst>
      <p:ext uri="{BB962C8B-B14F-4D97-AF65-F5344CB8AC3E}">
        <p14:creationId xmlns:p14="http://schemas.microsoft.com/office/powerpoint/2010/main" val="593596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1D3F9B9-D6A6-45CD-A696-39FA20C63B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D9726-D6AB-42F8-9577-F6D16DF9AEA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B6CD85-C33B-4F90-97BF-544204959D3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The service runs on a dedicated virtualized stack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EF06F5-59ED-418B-A555-D38E7D1544D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FE67B3-0F42-4892-8537-D25F717788F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0E947-76EB-4813-B87A-279CDC4D378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F19889-E350-43B9-8A03-2F8A4F577BF0}"/>
              </a:ext>
            </a:extLst>
          </p:cNvPr>
          <p:cNvSpPr>
            <a:spLocks noGrp="1"/>
          </p:cNvSpPr>
          <p:nvPr/>
        </p:nvSpPr>
        <p:spPr>
          <a:xfrm>
            <a:off x="1238250" y="165735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10263C"/>
          </a:solidFill>
          <a:ln w="19050">
            <a:solidFill>
              <a:srgbClr val="61799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BDC51-6353-4949-8691-6A0DF7BCE47C}"/>
              </a:ext>
            </a:extLst>
          </p:cNvPr>
          <p:cNvSpPr>
            <a:spLocks noGrp="1"/>
          </p:cNvSpPr>
          <p:nvPr/>
        </p:nvSpPr>
        <p:spPr>
          <a:xfrm>
            <a:off x="1409700" y="16954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F7FAFF"/>
                </a:solidFill>
              </a:defRPr>
            </a:pPr>
            <a:r>
              <a:rPr sz="1500" b="1" i="0">
                <a:solidFill>
                  <a:srgbClr val="F7FAFF"/>
                </a:solidFill>
              </a:rPr>
              <a:t>HP physical server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7BC24-83E3-44FF-AAFA-5A785081F18C}"/>
              </a:ext>
            </a:extLst>
          </p:cNvPr>
          <p:cNvSpPr>
            <a:spLocks noGrp="1"/>
          </p:cNvSpPr>
          <p:nvPr/>
        </p:nvSpPr>
        <p:spPr>
          <a:xfrm>
            <a:off x="3638550" y="16954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Standalone university-lab device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10E188-4379-4895-BED6-F03F4DDD5215}"/>
              </a:ext>
            </a:extLst>
          </p:cNvPr>
          <p:cNvSpPr>
            <a:spLocks noGrp="1"/>
          </p:cNvSpPr>
          <p:nvPr/>
        </p:nvSpPr>
        <p:spPr>
          <a:xfrm>
            <a:off x="1619250" y="2324100"/>
            <a:ext cx="4572000" cy="533400"/>
          </a:xfrm>
          <a:prstGeom prst="roundRect">
            <a:avLst>
              <a:gd name="adj" fmla="val 14286"/>
            </a:avLst>
          </a:prstGeom>
          <a:solidFill>
            <a:srgbClr val="10263C"/>
          </a:solidFill>
          <a:ln w="19050">
            <a:solidFill>
              <a:srgbClr val="735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0446F2-D412-4A96-9345-EB3D14052D77}"/>
              </a:ext>
            </a:extLst>
          </p:cNvPr>
          <p:cNvSpPr>
            <a:spLocks noGrp="1"/>
          </p:cNvSpPr>
          <p:nvPr/>
        </p:nvSpPr>
        <p:spPr>
          <a:xfrm>
            <a:off x="1790700" y="23622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F7FAFF"/>
                </a:solidFill>
              </a:defRPr>
            </a:pPr>
            <a:r>
              <a:rPr sz="1500" b="1" i="0">
                <a:solidFill>
                  <a:srgbClr val="F7FAFF"/>
                </a:solidFill>
              </a:rPr>
              <a:t>Proxmox 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35C37F-294A-4985-9BD7-4CFE18002EF4}"/>
              </a:ext>
            </a:extLst>
          </p:cNvPr>
          <p:cNvSpPr>
            <a:spLocks noGrp="1"/>
          </p:cNvSpPr>
          <p:nvPr/>
        </p:nvSpPr>
        <p:spPr>
          <a:xfrm>
            <a:off x="4019550" y="23622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Virtualization and lifecycle control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536036E-E9D5-40D9-88EE-25E3AC56AF6F}"/>
              </a:ext>
            </a:extLst>
          </p:cNvPr>
          <p:cNvSpPr>
            <a:spLocks noGrp="1"/>
          </p:cNvSpPr>
          <p:nvPr/>
        </p:nvSpPr>
        <p:spPr>
          <a:xfrm>
            <a:off x="2000250" y="2990850"/>
            <a:ext cx="4191000" cy="533400"/>
          </a:xfrm>
          <a:prstGeom prst="roundRect">
            <a:avLst>
              <a:gd name="adj" fmla="val 14286"/>
            </a:avLst>
          </a:prstGeom>
          <a:solidFill>
            <a:srgbClr val="10263C"/>
          </a:solidFill>
          <a:ln w="19050">
            <a:solidFill>
              <a:srgbClr val="25D9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193907-6EB5-4B29-B096-ECF9ED8F742C}"/>
              </a:ext>
            </a:extLst>
          </p:cNvPr>
          <p:cNvSpPr>
            <a:spLocks noGrp="1"/>
          </p:cNvSpPr>
          <p:nvPr/>
        </p:nvSpPr>
        <p:spPr>
          <a:xfrm>
            <a:off x="2171700" y="30289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F7FAFF"/>
                </a:solidFill>
              </a:defRPr>
            </a:pPr>
            <a:r>
              <a:rPr sz="1500" b="1" i="0">
                <a:solidFill>
                  <a:srgbClr val="F7FAFF"/>
                </a:solidFill>
              </a:rPr>
              <a:t>Ubuntu VM — pserv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C1C20E-74C7-4BAC-8DE1-7E43B3E3FE29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Server IP: 172.16.107.5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05C783-D3F7-4B7D-BB24-DB81A1C40FFC}"/>
              </a:ext>
            </a:extLst>
          </p:cNvPr>
          <p:cNvSpPr>
            <a:spLocks noGrp="1"/>
          </p:cNvSpPr>
          <p:nvPr/>
        </p:nvSpPr>
        <p:spPr>
          <a:xfrm>
            <a:off x="2381250" y="3657600"/>
            <a:ext cx="3810000" cy="533400"/>
          </a:xfrm>
          <a:prstGeom prst="roundRect">
            <a:avLst>
              <a:gd name="adj" fmla="val 14286"/>
            </a:avLst>
          </a:prstGeom>
          <a:solidFill>
            <a:srgbClr val="10263C"/>
          </a:solidFill>
          <a:ln w="19050">
            <a:solidFill>
              <a:srgbClr val="41E5A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291607-8B2C-4DFA-93BF-613F12ED0736}"/>
              </a:ext>
            </a:extLst>
          </p:cNvPr>
          <p:cNvSpPr>
            <a:spLocks noGrp="1"/>
          </p:cNvSpPr>
          <p:nvPr/>
        </p:nvSpPr>
        <p:spPr>
          <a:xfrm>
            <a:off x="2552700" y="36957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F7FAFF"/>
                </a:solidFill>
              </a:defRPr>
            </a:pPr>
            <a:r>
              <a:rPr sz="1500" b="1" i="0">
                <a:solidFill>
                  <a:srgbClr val="F7FAFF"/>
                </a:solidFill>
              </a:rPr>
              <a:t>Docker Compose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9A2681-6961-49FA-B7A2-C5623FDE41E0}"/>
              </a:ext>
            </a:extLst>
          </p:cNvPr>
          <p:cNvSpPr>
            <a:spLocks noGrp="1"/>
          </p:cNvSpPr>
          <p:nvPr/>
        </p:nvSpPr>
        <p:spPr>
          <a:xfrm>
            <a:off x="4781550" y="369570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Repeatable service deployment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D2E01E-0396-4B83-A819-1EC3EC7D6ACD}"/>
              </a:ext>
            </a:extLst>
          </p:cNvPr>
          <p:cNvSpPr>
            <a:spLocks noGrp="1"/>
          </p:cNvSpPr>
          <p:nvPr/>
        </p:nvSpPr>
        <p:spPr>
          <a:xfrm>
            <a:off x="2762250" y="4324350"/>
            <a:ext cx="3429000" cy="533400"/>
          </a:xfrm>
          <a:prstGeom prst="roundRect">
            <a:avLst>
              <a:gd name="adj" fmla="val 14286"/>
            </a:avLst>
          </a:prstGeom>
          <a:solidFill>
            <a:srgbClr val="10263C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15670D-FC7E-4838-8F68-12B9FF848332}"/>
              </a:ext>
            </a:extLst>
          </p:cNvPr>
          <p:cNvSpPr>
            <a:spLocks noGrp="1"/>
          </p:cNvSpPr>
          <p:nvPr/>
        </p:nvSpPr>
        <p:spPr>
          <a:xfrm>
            <a:off x="2933700" y="43624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F7FAFF"/>
                </a:solidFill>
              </a:defRPr>
            </a:pPr>
            <a:r>
              <a:rPr sz="1500" b="1" i="0">
                <a:solidFill>
                  <a:srgbClr val="F7FAFF"/>
                </a:solidFill>
              </a:rPr>
              <a:t>MiroTalk P2P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76ED3B-8350-4A73-95B5-5FCC016945E4}"/>
              </a:ext>
            </a:extLst>
          </p:cNvPr>
          <p:cNvSpPr>
            <a:spLocks noGrp="1"/>
          </p:cNvSpPr>
          <p:nvPr/>
        </p:nvSpPr>
        <p:spPr>
          <a:xfrm>
            <a:off x="5162550" y="436245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Listening on port 3000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0B0F41-338B-4AD8-82A4-CC034C2CBDA2}"/>
              </a:ext>
            </a:extLst>
          </p:cNvPr>
          <p:cNvSpPr>
            <a:spLocks noGrp="1"/>
          </p:cNvSpPr>
          <p:nvPr/>
        </p:nvSpPr>
        <p:spPr>
          <a:xfrm>
            <a:off x="7334250" y="17145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 i="0">
                <a:solidFill>
                  <a:srgbClr val="F7FAFF"/>
                </a:solidFill>
              </a:defRPr>
            </a:pPr>
            <a:r>
              <a:rPr sz="1950" b="1" i="0">
                <a:solidFill>
                  <a:srgbClr val="F7FAFF"/>
                </a:solidFill>
              </a:rPr>
              <a:t>Operational proof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5F280B-5EA1-4C6E-93E1-2764A48D9AD2}"/>
              </a:ext>
            </a:extLst>
          </p:cNvPr>
          <p:cNvSpPr>
            <a:spLocks noGrp="1"/>
          </p:cNvSpPr>
          <p:nvPr/>
        </p:nvSpPr>
        <p:spPr>
          <a:xfrm>
            <a:off x="7334250" y="2371725"/>
            <a:ext cx="95250" cy="95250"/>
          </a:xfrm>
          <a:prstGeom prst="ellipse">
            <a:avLst/>
          </a:prstGeom>
          <a:solidFill>
            <a:srgbClr val="41E5A1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03B029-7E49-4F48-926C-2A0333CC3E66}"/>
              </a:ext>
            </a:extLst>
          </p:cNvPr>
          <p:cNvSpPr>
            <a:spLocks noGrp="1"/>
          </p:cNvSpPr>
          <p:nvPr/>
        </p:nvSpPr>
        <p:spPr>
          <a:xfrm>
            <a:off x="7543800" y="23050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Health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287F86-448A-42C4-A6F4-0A99E18DEEE2}"/>
              </a:ext>
            </a:extLst>
          </p:cNvPr>
          <p:cNvSpPr>
            <a:spLocks noGrp="1"/>
          </p:cNvSpPr>
          <p:nvPr/>
        </p:nvSpPr>
        <p:spPr>
          <a:xfrm>
            <a:off x="8972550" y="23050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HTTP/1.1 200 OK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F40955-045D-4A18-9084-9AD7ABD320D7}"/>
              </a:ext>
            </a:extLst>
          </p:cNvPr>
          <p:cNvSpPr>
            <a:spLocks noGrp="1"/>
          </p:cNvSpPr>
          <p:nvPr/>
        </p:nvSpPr>
        <p:spPr>
          <a:xfrm>
            <a:off x="7334250" y="2943225"/>
            <a:ext cx="95250" cy="95250"/>
          </a:xfrm>
          <a:prstGeom prst="ellipse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D45DC6-6C87-40D9-8977-4CC740C6A282}"/>
              </a:ext>
            </a:extLst>
          </p:cNvPr>
          <p:cNvSpPr>
            <a:spLocks noGrp="1"/>
          </p:cNvSpPr>
          <p:nvPr/>
        </p:nvSpPr>
        <p:spPr>
          <a:xfrm>
            <a:off x="7543800" y="2876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Runtime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A7F6BE-1DEC-4898-A0ED-AC890428EA26}"/>
              </a:ext>
            </a:extLst>
          </p:cNvPr>
          <p:cNvSpPr>
            <a:spLocks noGrp="1"/>
          </p:cNvSpPr>
          <p:nvPr/>
        </p:nvSpPr>
        <p:spPr>
          <a:xfrm>
            <a:off x="8972550" y="28765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Docker container: mirotalk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C2240A-A42C-4393-8FDA-1ED0866CC106}"/>
              </a:ext>
            </a:extLst>
          </p:cNvPr>
          <p:cNvSpPr>
            <a:spLocks noGrp="1"/>
          </p:cNvSpPr>
          <p:nvPr/>
        </p:nvSpPr>
        <p:spPr>
          <a:xfrm>
            <a:off x="7334250" y="3514725"/>
            <a:ext cx="95250" cy="95250"/>
          </a:xfrm>
          <a:prstGeom prst="ellipse">
            <a:avLst/>
          </a:prstGeom>
          <a:solidFill>
            <a:srgbClr val="7357F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B0815F-D657-4BAA-85BF-D0E63881C638}"/>
              </a:ext>
            </a:extLst>
          </p:cNvPr>
          <p:cNvSpPr>
            <a:spLocks noGrp="1"/>
          </p:cNvSpPr>
          <p:nvPr/>
        </p:nvSpPr>
        <p:spPr>
          <a:xfrm>
            <a:off x="7543800" y="34480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Control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B8EE06-809C-4ED9-B5D8-93497C1CC01B}"/>
              </a:ext>
            </a:extLst>
          </p:cNvPr>
          <p:cNvSpPr>
            <a:spLocks noGrp="1"/>
          </p:cNvSpPr>
          <p:nvPr/>
        </p:nvSpPr>
        <p:spPr>
          <a:xfrm>
            <a:off x="8972550" y="34480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docker compose up -d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D2233B-7B93-4AF9-BD20-C6963C447E50}"/>
              </a:ext>
            </a:extLst>
          </p:cNvPr>
          <p:cNvSpPr>
            <a:spLocks noGrp="1"/>
          </p:cNvSpPr>
          <p:nvPr/>
        </p:nvSpPr>
        <p:spPr>
          <a:xfrm>
            <a:off x="7334250" y="4086225"/>
            <a:ext cx="95250" cy="95250"/>
          </a:xfrm>
          <a:prstGeom prst="ellipse">
            <a:avLst/>
          </a:prstGeom>
          <a:solidFill>
            <a:srgbClr val="F6C453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AD9263-47BA-4617-B66A-C77FE60CCA95}"/>
              </a:ext>
            </a:extLst>
          </p:cNvPr>
          <p:cNvSpPr>
            <a:spLocks noGrp="1"/>
          </p:cNvSpPr>
          <p:nvPr/>
        </p:nvSpPr>
        <p:spPr>
          <a:xfrm>
            <a:off x="7543800" y="4019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HTTPS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8DFE47-A019-44BC-9EF0-FCAFD3158BD4}"/>
              </a:ext>
            </a:extLst>
          </p:cNvPr>
          <p:cNvSpPr>
            <a:spLocks noGrp="1"/>
          </p:cNvSpPr>
          <p:nvPr/>
        </p:nvSpPr>
        <p:spPr>
          <a:xfrm>
            <a:off x="8972550" y="40195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Nginx self-signed local access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A5D766A-76DF-4052-AF35-9E605FE9F4DB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3676650" cy="704850"/>
          </a:xfrm>
          <a:prstGeom prst="roundRect">
            <a:avLst>
              <a:gd name="adj" fmla="val 10811"/>
            </a:avLst>
          </a:prstGeom>
          <a:solidFill>
            <a:srgbClr val="091827"/>
          </a:solidFill>
          <a:ln w="9525">
            <a:solidFill>
              <a:srgbClr val="23415E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353CF6-8046-4031-BF46-C92DBFAF0226}"/>
              </a:ext>
            </a:extLst>
          </p:cNvPr>
          <p:cNvSpPr>
            <a:spLocks noGrp="1"/>
          </p:cNvSpPr>
          <p:nvPr/>
        </p:nvSpPr>
        <p:spPr>
          <a:xfrm>
            <a:off x="7524750" y="49149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41E5A1"/>
                </a:solidFill>
              </a:defRPr>
            </a:pPr>
            <a:r>
              <a:rPr sz="1350" b="0" i="0" dirty="0">
                <a:solidFill>
                  <a:srgbClr val="41E5A1"/>
                </a:solidFill>
              </a:rPr>
              <a:t>curl -I http://127.0.0.1:3000</a:t>
            </a:r>
          </a:p>
        </p:txBody>
      </p:sp>
    </p:spTree>
    <p:extLst>
      <p:ext uri="{BB962C8B-B14F-4D97-AF65-F5344CB8AC3E}">
        <p14:creationId xmlns:p14="http://schemas.microsoft.com/office/powerpoint/2010/main" val="2085801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E447AB-9CB3-48C1-9582-4F7E99600D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701D3B-016B-419C-B8BA-88F0F29692E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63514-749F-4D45-BCE8-59982A3AB77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The routed lab connects two client networks to the service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7E9F7BC-B8A6-4797-8E70-37476594452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BFD6A1-C773-4451-A492-6E79FC203DE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ADA24-81D3-4079-A14F-6E8A625F371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17C76C0-CEB9-42B0-B7D9-DDB7938DAD45}"/>
              </a:ext>
            </a:extLst>
          </p:cNvPr>
          <p:cNvSpPr>
            <a:spLocks noGrp="1"/>
          </p:cNvSpPr>
          <p:nvPr/>
        </p:nvSpPr>
        <p:spPr>
          <a:xfrm>
            <a:off x="2038350" y="3067050"/>
            <a:ext cx="1600200" cy="0"/>
          </a:xfrm>
          <a:prstGeom prst="line">
            <a:avLst/>
          </a:prstGeom>
          <a:noFill/>
          <a:ln w="47625">
            <a:solidFill>
              <a:srgbClr val="25D9FF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CEC78DD-8E55-43CD-8C49-5B4D862CB9BC}"/>
              </a:ext>
            </a:extLst>
          </p:cNvPr>
          <p:cNvSpPr>
            <a:spLocks noGrp="1"/>
          </p:cNvSpPr>
          <p:nvPr/>
        </p:nvSpPr>
        <p:spPr>
          <a:xfrm>
            <a:off x="4876800" y="3067050"/>
            <a:ext cx="1600200" cy="0"/>
          </a:xfrm>
          <a:prstGeom prst="line">
            <a:avLst/>
          </a:prstGeom>
          <a:noFill/>
          <a:ln w="47625">
            <a:solidFill>
              <a:srgbClr val="7357FF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71A0230-6A68-492C-B9C5-BB2F5709A4E0}"/>
              </a:ext>
            </a:extLst>
          </p:cNvPr>
          <p:cNvSpPr>
            <a:spLocks noGrp="1"/>
          </p:cNvSpPr>
          <p:nvPr/>
        </p:nvSpPr>
        <p:spPr>
          <a:xfrm>
            <a:off x="7715250" y="3067050"/>
            <a:ext cx="1600200" cy="0"/>
          </a:xfrm>
          <a:prstGeom prst="line">
            <a:avLst/>
          </a:prstGeom>
          <a:noFill/>
          <a:ln w="47625">
            <a:solidFill>
              <a:srgbClr val="7357FF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37833D6-9B1C-472A-8C14-865E88285DE8}"/>
              </a:ext>
            </a:extLst>
          </p:cNvPr>
          <p:cNvSpPr>
            <a:spLocks noGrp="1"/>
          </p:cNvSpPr>
          <p:nvPr/>
        </p:nvSpPr>
        <p:spPr>
          <a:xfrm>
            <a:off x="7096125" y="3638550"/>
            <a:ext cx="0" cy="1200150"/>
          </a:xfrm>
          <a:prstGeom prst="line">
            <a:avLst/>
          </a:prstGeom>
          <a:noFill/>
          <a:ln w="47625">
            <a:solidFill>
              <a:srgbClr val="41E5A1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606280-08ED-404B-A74D-CDD41CB12A62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1714500" cy="1181100"/>
          </a:xfrm>
          <a:prstGeom prst="roundRect">
            <a:avLst>
              <a:gd name="adj" fmla="val 9677"/>
            </a:avLst>
          </a:prstGeom>
          <a:solidFill>
            <a:srgbClr val="10263C"/>
          </a:solidFill>
          <a:ln w="19050">
            <a:solidFill>
              <a:srgbClr val="25D9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CC09BD-B783-4A69-8D0F-193D27D7A94E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Client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E93646-B352-42AE-958E-D2F5BBB0A495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152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10.10.1.10/24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7BDECE-8A29-4445-A52D-F75DC4E04D58}"/>
              </a:ext>
            </a:extLst>
          </p:cNvPr>
          <p:cNvSpPr>
            <a:spLocks noGrp="1"/>
          </p:cNvSpPr>
          <p:nvPr/>
        </p:nvSpPr>
        <p:spPr>
          <a:xfrm>
            <a:off x="3200400" y="2362200"/>
            <a:ext cx="2095500" cy="1409700"/>
          </a:xfrm>
          <a:prstGeom prst="roundRect">
            <a:avLst>
              <a:gd name="adj" fmla="val 8108"/>
            </a:avLst>
          </a:prstGeom>
          <a:solidFill>
            <a:srgbClr val="10263C"/>
          </a:solidFill>
          <a:ln w="19050">
            <a:solidFill>
              <a:srgbClr val="25D9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413352-FD49-4BB3-9502-29639C9314D4}"/>
              </a:ext>
            </a:extLst>
          </p:cNvPr>
          <p:cNvSpPr>
            <a:spLocks noGrp="1"/>
          </p:cNvSpPr>
          <p:nvPr/>
        </p:nvSpPr>
        <p:spPr>
          <a:xfrm>
            <a:off x="3314700" y="24765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Router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2EA4F1-09EC-41B9-8A9A-0232D5212482}"/>
              </a:ext>
            </a:extLst>
          </p:cNvPr>
          <p:cNvSpPr>
            <a:spLocks noGrp="1"/>
          </p:cNvSpPr>
          <p:nvPr/>
        </p:nvSpPr>
        <p:spPr>
          <a:xfrm>
            <a:off x="3295650" y="2800350"/>
            <a:ext cx="1905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10.10.1.1/24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10.10.12.1/30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6CE1774-B956-4F07-9605-DC2CAC6DAA4D}"/>
              </a:ext>
            </a:extLst>
          </p:cNvPr>
          <p:cNvSpPr>
            <a:spLocks noGrp="1"/>
          </p:cNvSpPr>
          <p:nvPr/>
        </p:nvSpPr>
        <p:spPr>
          <a:xfrm>
            <a:off x="6038850" y="2362200"/>
            <a:ext cx="2095500" cy="1409700"/>
          </a:xfrm>
          <a:prstGeom prst="roundRect">
            <a:avLst>
              <a:gd name="adj" fmla="val 8108"/>
            </a:avLst>
          </a:prstGeom>
          <a:solidFill>
            <a:srgbClr val="10263C"/>
          </a:solidFill>
          <a:ln w="19050">
            <a:solidFill>
              <a:srgbClr val="7357F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FC68D4-5BED-41A2-9E9E-01FC760C4B03}"/>
              </a:ext>
            </a:extLst>
          </p:cNvPr>
          <p:cNvSpPr>
            <a:spLocks noGrp="1"/>
          </p:cNvSpPr>
          <p:nvPr/>
        </p:nvSpPr>
        <p:spPr>
          <a:xfrm>
            <a:off x="6153150" y="24765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Router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656A45-72F7-40D9-9FEB-3D39ACFE531E}"/>
              </a:ext>
            </a:extLst>
          </p:cNvPr>
          <p:cNvSpPr>
            <a:spLocks noGrp="1"/>
          </p:cNvSpPr>
          <p:nvPr/>
        </p:nvSpPr>
        <p:spPr>
          <a:xfrm>
            <a:off x="6134100" y="2800350"/>
            <a:ext cx="1905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10.10.12.2/30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10.10.2.1/24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08ABC8-9A8A-4625-A3C3-94AC92E6519D}"/>
              </a:ext>
            </a:extLst>
          </p:cNvPr>
          <p:cNvSpPr>
            <a:spLocks noGrp="1"/>
          </p:cNvSpPr>
          <p:nvPr/>
        </p:nvSpPr>
        <p:spPr>
          <a:xfrm>
            <a:off x="8877300" y="2476500"/>
            <a:ext cx="1714500" cy="1181100"/>
          </a:xfrm>
          <a:prstGeom prst="roundRect">
            <a:avLst>
              <a:gd name="adj" fmla="val 9677"/>
            </a:avLst>
          </a:prstGeom>
          <a:solidFill>
            <a:srgbClr val="10263C"/>
          </a:solidFill>
          <a:ln w="19050">
            <a:solidFill>
              <a:srgbClr val="735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E7D32E-DC3A-4FD4-B05F-7C0802F78526}"/>
              </a:ext>
            </a:extLst>
          </p:cNvPr>
          <p:cNvSpPr>
            <a:spLocks noGrp="1"/>
          </p:cNvSpPr>
          <p:nvPr/>
        </p:nvSpPr>
        <p:spPr>
          <a:xfrm>
            <a:off x="8991600" y="259080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Client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6B8A38-8444-4206-9019-DA42F9FB30B8}"/>
              </a:ext>
            </a:extLst>
          </p:cNvPr>
          <p:cNvSpPr>
            <a:spLocks noGrp="1"/>
          </p:cNvSpPr>
          <p:nvPr/>
        </p:nvSpPr>
        <p:spPr>
          <a:xfrm>
            <a:off x="8972550" y="2914650"/>
            <a:ext cx="152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10.10.2.10/24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509A259-4C26-4E49-A9BE-0E6519165120}"/>
              </a:ext>
            </a:extLst>
          </p:cNvPr>
          <p:cNvSpPr>
            <a:spLocks noGrp="1"/>
          </p:cNvSpPr>
          <p:nvPr/>
        </p:nvSpPr>
        <p:spPr>
          <a:xfrm>
            <a:off x="5943600" y="4762500"/>
            <a:ext cx="2305050" cy="1257300"/>
          </a:xfrm>
          <a:prstGeom prst="roundRect">
            <a:avLst>
              <a:gd name="adj" fmla="val 9091"/>
            </a:avLst>
          </a:prstGeom>
          <a:solidFill>
            <a:srgbClr val="10263C"/>
          </a:solidFill>
          <a:ln w="19050">
            <a:solidFill>
              <a:srgbClr val="41E5A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34898C-A470-4A51-B069-61D2475992D3}"/>
              </a:ext>
            </a:extLst>
          </p:cNvPr>
          <p:cNvSpPr>
            <a:spLocks noGrp="1"/>
          </p:cNvSpPr>
          <p:nvPr/>
        </p:nvSpPr>
        <p:spPr>
          <a:xfrm>
            <a:off x="6057900" y="4876800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Ubuntu host / pserv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A6961A-4154-424D-BDF3-00028B5BCC8B}"/>
              </a:ext>
            </a:extLst>
          </p:cNvPr>
          <p:cNvSpPr>
            <a:spLocks noGrp="1"/>
          </p:cNvSpPr>
          <p:nvPr/>
        </p:nvSpPr>
        <p:spPr>
          <a:xfrm>
            <a:off x="6038850" y="52006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miro-srv: 10.30.0.10/24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MiroTalk :3000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06EB50-A9BB-47DD-AF5B-B76C9C56F4CC}"/>
              </a:ext>
            </a:extLst>
          </p:cNvPr>
          <p:cNvSpPr>
            <a:spLocks noGrp="1"/>
          </p:cNvSpPr>
          <p:nvPr/>
        </p:nvSpPr>
        <p:spPr>
          <a:xfrm>
            <a:off x="2190750" y="27241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 i="0">
                <a:solidFill>
                  <a:srgbClr val="9DB2C9"/>
                </a:solidFill>
              </a:defRPr>
            </a:pPr>
            <a:r>
              <a:rPr sz="1050" b="0" i="0">
                <a:solidFill>
                  <a:srgbClr val="9DB2C9"/>
                </a:solidFill>
              </a:rPr>
              <a:t>10.10.1.0/24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4694C9-9411-4813-B82D-E10768903E31}"/>
              </a:ext>
            </a:extLst>
          </p:cNvPr>
          <p:cNvSpPr>
            <a:spLocks noGrp="1"/>
          </p:cNvSpPr>
          <p:nvPr/>
        </p:nvSpPr>
        <p:spPr>
          <a:xfrm>
            <a:off x="4953000" y="27241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 i="0">
                <a:solidFill>
                  <a:srgbClr val="9DB2C9"/>
                </a:solidFill>
              </a:defRPr>
            </a:pPr>
            <a:r>
              <a:rPr sz="1050" b="0" i="0">
                <a:solidFill>
                  <a:srgbClr val="9DB2C9"/>
                </a:solidFill>
              </a:rPr>
              <a:t>10.10.12.0/30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87A060-D042-4BB1-9070-2AB33C2AA3CD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 i="0">
                <a:solidFill>
                  <a:srgbClr val="9DB2C9"/>
                </a:solidFill>
              </a:defRPr>
            </a:pPr>
            <a:r>
              <a:rPr sz="1050" b="0" i="0">
                <a:solidFill>
                  <a:srgbClr val="9DB2C9"/>
                </a:solidFill>
              </a:rPr>
              <a:t>10.10.2.0/24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69CBB-0E31-4E62-9896-F86ABB4EA008}"/>
              </a:ext>
            </a:extLst>
          </p:cNvPr>
          <p:cNvSpPr>
            <a:spLocks noGrp="1"/>
          </p:cNvSpPr>
          <p:nvPr/>
        </p:nvSpPr>
        <p:spPr>
          <a:xfrm>
            <a:off x="7286625" y="41719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41E5A1"/>
                </a:solidFill>
              </a:defRPr>
            </a:pPr>
            <a:r>
              <a:rPr sz="1050" b="0" i="0">
                <a:solidFill>
                  <a:srgbClr val="41E5A1"/>
                </a:solidFill>
              </a:rPr>
              <a:t>10.30.0.0/24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A1E3AE-B51A-4454-B8AF-7452D8740A12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Static host routes return traffic to both client subnets through 10.30.0.1.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85054E-A1C0-4591-8961-9ECB9691A72C}"/>
              </a:ext>
            </a:extLst>
          </p:cNvPr>
          <p:cNvSpPr>
            <a:spLocks noGrp="1"/>
          </p:cNvSpPr>
          <p:nvPr/>
        </p:nvSpPr>
        <p:spPr>
          <a:xfrm>
            <a:off x="990600" y="5981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Current router image: Nokia SR Linux on R1 and R2</a:t>
            </a:r>
          </a:p>
        </p:txBody>
      </p:sp>
    </p:spTree>
    <p:extLst>
      <p:ext uri="{BB962C8B-B14F-4D97-AF65-F5344CB8AC3E}">
        <p14:creationId xmlns:p14="http://schemas.microsoft.com/office/powerpoint/2010/main" val="614565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C14E5A2-A127-4331-BA29-E116358A1C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ACBD5-61A0-40A4-BDF9-5BC7D192570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55DCA0-1B30-4830-9B72-B37FBCEE3C5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Reachability was verified at both network and service levels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4AF4960-39AE-462F-ABD8-25AFC1FBEBF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C601D-C471-44A0-ABDE-029B2DE66FC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3AF49-9B4E-4A49-AF1B-8CC525C3AAC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49C80D-49BF-463C-8CD0-086A6598936E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6191250" cy="4000500"/>
          </a:xfrm>
          <a:prstGeom prst="roundRect">
            <a:avLst>
              <a:gd name="adj" fmla="val 2857"/>
            </a:avLst>
          </a:prstGeom>
          <a:solidFill>
            <a:srgbClr val="050C15"/>
          </a:solidFill>
          <a:ln w="9525">
            <a:solidFill>
              <a:srgbClr val="23415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51CF5-B2B8-4F1B-98DC-9F8A5991AB09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25D9FF"/>
                </a:solidFill>
              </a:defRPr>
            </a:pPr>
            <a:r>
              <a:rPr sz="1350" b="0" i="0">
                <a:solidFill>
                  <a:srgbClr val="25D9FF"/>
                </a:solidFill>
              </a:rPr>
              <a:t>$ sudo containerlab inspect --all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15606-5469-4CD0-82B1-9E6347F2D526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561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F7FAFF"/>
                </a:solidFill>
              </a:defRPr>
            </a:pPr>
            <a:r>
              <a:rPr sz="1200" b="0" i="0">
                <a:solidFill>
                  <a:srgbClr val="F7FAFF"/>
                </a:solidFill>
              </a:rPr>
              <a:t>$ docker ps --format "table {{.Names}}\t{{.Status}}"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291AE6-7C4B-4369-82C8-C5DF8EDDB331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7357FF"/>
                </a:solidFill>
              </a:defRPr>
            </a:pPr>
            <a:r>
              <a:rPr sz="1350" b="0" i="0">
                <a:solidFill>
                  <a:srgbClr val="7357FF"/>
                </a:solidFill>
              </a:rPr>
              <a:t>$ sudo ./scripts/test-lab.sh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8E807-5466-4AC1-9648-25B7567A6EE7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561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F7FAFF"/>
                </a:solidFill>
              </a:defRPr>
            </a:pPr>
            <a:r>
              <a:rPr sz="1200" b="0" i="0">
                <a:solidFill>
                  <a:srgbClr val="F7FAFF"/>
                </a:solidFill>
              </a:rPr>
              <a:t>$ wget -S -O /dev/null http://10.30.0.10:3000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2F35F2-363A-44B1-9BA2-1BBEA555361D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41E5A1"/>
                </a:solidFill>
              </a:defRPr>
            </a:pPr>
            <a:r>
              <a:rPr sz="1800" b="1" i="0">
                <a:solidFill>
                  <a:srgbClr val="41E5A1"/>
                </a:solidFill>
              </a:rPr>
              <a:t>HTTP/1.1 200 OK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7124A-4401-499A-9283-308DE25CB6AB}"/>
              </a:ext>
            </a:extLst>
          </p:cNvPr>
          <p:cNvSpPr>
            <a:spLocks noGrp="1"/>
          </p:cNvSpPr>
          <p:nvPr/>
        </p:nvSpPr>
        <p:spPr>
          <a:xfrm>
            <a:off x="876300" y="4629150"/>
            <a:ext cx="561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$ ip addr   $ ip route   $ traceroute -n 10.30.0.10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79B2FB-7336-4794-811A-7CAD0DFC8D4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 i="0">
                <a:solidFill>
                  <a:srgbClr val="F7FAFF"/>
                </a:solidFill>
              </a:defRPr>
            </a:pPr>
            <a:r>
              <a:rPr sz="2025" b="1" i="0">
                <a:solidFill>
                  <a:srgbClr val="F7FAFF"/>
                </a:solidFill>
              </a:rPr>
              <a:t>What the evidence proves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820372-21ED-4EDD-95C9-0359CC6C3F11}"/>
              </a:ext>
            </a:extLst>
          </p:cNvPr>
          <p:cNvSpPr>
            <a:spLocks noGrp="1"/>
          </p:cNvSpPr>
          <p:nvPr/>
        </p:nvSpPr>
        <p:spPr>
          <a:xfrm>
            <a:off x="7334250" y="2447925"/>
            <a:ext cx="95250" cy="95250"/>
          </a:xfrm>
          <a:prstGeom prst="ellipse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899347-CB0B-42E3-874F-39F040FF939E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Nodes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24F68F-AD73-413C-B035-C41BA5A50978}"/>
              </a:ext>
            </a:extLst>
          </p:cNvPr>
          <p:cNvSpPr>
            <a:spLocks noGrp="1"/>
          </p:cNvSpPr>
          <p:nvPr/>
        </p:nvSpPr>
        <p:spPr>
          <a:xfrm>
            <a:off x="8972550" y="2381250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All lab containers are running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B1A328C-5BD4-4391-AD4F-1F882C63DEB6}"/>
              </a:ext>
            </a:extLst>
          </p:cNvPr>
          <p:cNvSpPr>
            <a:spLocks noGrp="1"/>
          </p:cNvSpPr>
          <p:nvPr/>
        </p:nvSpPr>
        <p:spPr>
          <a:xfrm>
            <a:off x="7334250" y="3076575"/>
            <a:ext cx="95250" cy="95250"/>
          </a:xfrm>
          <a:prstGeom prst="ellipse">
            <a:avLst/>
          </a:prstGeom>
          <a:solidFill>
            <a:srgbClr val="7357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9BC9A5-0A68-4EB9-8D55-75BF90C427EC}"/>
              </a:ext>
            </a:extLst>
          </p:cNvPr>
          <p:cNvSpPr>
            <a:spLocks noGrp="1"/>
          </p:cNvSpPr>
          <p:nvPr/>
        </p:nvSpPr>
        <p:spPr>
          <a:xfrm>
            <a:off x="7543800" y="3009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Routes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AB059F-6419-41F6-8CEA-0EF588394D75}"/>
              </a:ext>
            </a:extLst>
          </p:cNvPr>
          <p:cNvSpPr>
            <a:spLocks noGrp="1"/>
          </p:cNvSpPr>
          <p:nvPr/>
        </p:nvSpPr>
        <p:spPr>
          <a:xfrm>
            <a:off x="8972550" y="3009900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Clients have a valid path to pserv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2BD921-8C43-4B18-9BA5-24BED52920D1}"/>
              </a:ext>
            </a:extLst>
          </p:cNvPr>
          <p:cNvSpPr>
            <a:spLocks noGrp="1"/>
          </p:cNvSpPr>
          <p:nvPr/>
        </p:nvSpPr>
        <p:spPr>
          <a:xfrm>
            <a:off x="7334250" y="3705225"/>
            <a:ext cx="95250" cy="95250"/>
          </a:xfrm>
          <a:prstGeom prst="ellipse">
            <a:avLst/>
          </a:prstGeom>
          <a:solidFill>
            <a:srgbClr val="41E5A1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9C7361-A1A3-4047-ABE2-5FF1A1D1C64B}"/>
              </a:ext>
            </a:extLst>
          </p:cNvPr>
          <p:cNvSpPr>
            <a:spLocks noGrp="1"/>
          </p:cNvSpPr>
          <p:nvPr/>
        </p:nvSpPr>
        <p:spPr>
          <a:xfrm>
            <a:off x="7543800" y="3638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24E17-AD68-490E-9873-D7982687DE57}"/>
              </a:ext>
            </a:extLst>
          </p:cNvPr>
          <p:cNvSpPr>
            <a:spLocks noGrp="1"/>
          </p:cNvSpPr>
          <p:nvPr/>
        </p:nvSpPr>
        <p:spPr>
          <a:xfrm>
            <a:off x="8972550" y="3638550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Port 3000 returns HTTP 200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ED6901-7396-47E0-98C9-5DE9B9A670A8}"/>
              </a:ext>
            </a:extLst>
          </p:cNvPr>
          <p:cNvSpPr>
            <a:spLocks noGrp="1"/>
          </p:cNvSpPr>
          <p:nvPr/>
        </p:nvSpPr>
        <p:spPr>
          <a:xfrm>
            <a:off x="7334250" y="4333875"/>
            <a:ext cx="95250" cy="95250"/>
          </a:xfrm>
          <a:prstGeom prst="ellipse">
            <a:avLst/>
          </a:prstGeom>
          <a:solidFill>
            <a:srgbClr val="F6C453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9E8BE1-F602-471E-A349-B947FBE814D7}"/>
              </a:ext>
            </a:extLst>
          </p:cNvPr>
          <p:cNvSpPr>
            <a:spLocks noGrp="1"/>
          </p:cNvSpPr>
          <p:nvPr/>
        </p:nvSpPr>
        <p:spPr>
          <a:xfrm>
            <a:off x="7543800" y="42672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Media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FE0961-E586-4109-ABB8-DE3F0D184CB0}"/>
              </a:ext>
            </a:extLst>
          </p:cNvPr>
          <p:cNvSpPr>
            <a:spLocks noGrp="1"/>
          </p:cNvSpPr>
          <p:nvPr/>
        </p:nvSpPr>
        <p:spPr>
          <a:xfrm>
            <a:off x="8972550" y="4267200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Browsers can open the meeting room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228D5E-CC08-4617-894D-2A4C8803C677}"/>
              </a:ext>
            </a:extLst>
          </p:cNvPr>
          <p:cNvSpPr>
            <a:spLocks noGrp="1"/>
          </p:cNvSpPr>
          <p:nvPr/>
        </p:nvSpPr>
        <p:spPr>
          <a:xfrm>
            <a:off x="7334250" y="5048250"/>
            <a:ext cx="361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HTTP success is stronger than ping alone: it proves the application responds.</a:t>
            </a:r>
          </a:p>
        </p:txBody>
      </p:sp>
    </p:spTree>
    <p:extLst>
      <p:ext uri="{BB962C8B-B14F-4D97-AF65-F5344CB8AC3E}">
        <p14:creationId xmlns:p14="http://schemas.microsoft.com/office/powerpoint/2010/main" val="25560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458B8D-734F-418F-8232-66550E3A6F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8750A9-63BC-4E54-B9C8-A3CF2880CF3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5C4723-DE16-4718-9A89-4A73DBF73A7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MarketCar turns communication into a reusable service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75FB5FE-9273-496A-B4F8-80754A8E909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B493B-8770-4C42-8C5A-88E36958947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6D9FE-3E6F-4FF9-AAAC-6D62E5B2B36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A02C4B-10F0-4551-AB8F-434E03092ED7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5334000" cy="4152900"/>
          </a:xfrm>
          <a:prstGeom prst="roundRect">
            <a:avLst>
              <a:gd name="adj" fmla="val 3670"/>
            </a:avLst>
          </a:prstGeom>
          <a:solidFill>
            <a:srgbClr val="0C2140"/>
          </a:solidFill>
          <a:ln w="9525">
            <a:solidFill>
              <a:srgbClr val="25D9FF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" y="1847850"/>
            <a:ext cx="4953000" cy="3095625"/>
          </a:xfrm>
          <a:prstGeom prst="roundRect">
            <a:avLst>
              <a:gd name="adj" fmla="val 3692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B8A8B0-9023-4A46-9E10-A6C99912A733}"/>
              </a:ext>
            </a:extLst>
          </p:cNvPr>
          <p:cNvSpPr>
            <a:spLocks noGrp="1"/>
          </p:cNvSpPr>
          <p:nvPr/>
        </p:nvSpPr>
        <p:spPr>
          <a:xfrm>
            <a:off x="1200150" y="5086350"/>
            <a:ext cx="4152900" cy="476250"/>
          </a:xfrm>
          <a:prstGeom prst="roundRect">
            <a:avLst>
              <a:gd name="adj" fmla="val 50000"/>
            </a:avLst>
          </a:prstGeom>
          <a:solidFill>
            <a:srgbClr val="25D9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07111F"/>
                </a:solidFill>
              </a:defRPr>
            </a:pPr>
            <a:r>
              <a:rPr sz="1650" b="1" i="0">
                <a:solidFill>
                  <a:srgbClr val="07111F"/>
                </a:solidFill>
              </a:rPr>
              <a:t>تواصل مع البائع عبر الفيديو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563F26-BE23-4000-BE36-04DC7165D6DC}"/>
              </a:ext>
            </a:extLst>
          </p:cNvPr>
          <p:cNvSpPr>
            <a:spLocks noGrp="1"/>
          </p:cNvSpPr>
          <p:nvPr/>
        </p:nvSpPr>
        <p:spPr>
          <a:xfrm>
            <a:off x="6705600" y="175260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 i="0">
                <a:solidFill>
                  <a:srgbClr val="F7FAFF"/>
                </a:solidFill>
              </a:defRPr>
            </a:pPr>
            <a:r>
              <a:rPr sz="2025" b="1" i="0">
                <a:solidFill>
                  <a:srgbClr val="F7FAFF"/>
                </a:solidFill>
              </a:rPr>
              <a:t>One configuration point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B73F23-038C-48AD-ACC6-C1F63AAF8C0B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4705350" cy="685800"/>
          </a:xfrm>
          <a:prstGeom prst="roundRect">
            <a:avLst>
              <a:gd name="adj" fmla="val 11111"/>
            </a:avLst>
          </a:prstGeom>
          <a:solidFill>
            <a:srgbClr val="050C15"/>
          </a:solidFill>
          <a:ln w="9525">
            <a:solidFill>
              <a:srgbClr val="23415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92671F-3D9D-48B2-AD85-5C9554EA9018}"/>
              </a:ext>
            </a:extLst>
          </p:cNvPr>
          <p:cNvSpPr>
            <a:spLocks noGrp="1"/>
          </p:cNvSpPr>
          <p:nvPr/>
        </p:nvSpPr>
        <p:spPr>
          <a:xfrm>
            <a:off x="6877050" y="2409825"/>
            <a:ext cx="436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41E5A1"/>
                </a:solidFill>
              </a:defRPr>
            </a:pPr>
            <a:r>
              <a:rPr sz="1200" b="0" i="0">
                <a:solidFill>
                  <a:srgbClr val="41E5A1"/>
                </a:solidFill>
              </a:rPr>
              <a:t>const MIROTALK_BASE_URL = "https://…";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A96270-8804-49DC-9E71-E803CB4CE80F}"/>
              </a:ext>
            </a:extLst>
          </p:cNvPr>
          <p:cNvSpPr>
            <a:spLocks noGrp="1"/>
          </p:cNvSpPr>
          <p:nvPr/>
        </p:nvSpPr>
        <p:spPr>
          <a:xfrm>
            <a:off x="6705600" y="3324225"/>
            <a:ext cx="95250" cy="95250"/>
          </a:xfrm>
          <a:prstGeom prst="ellipse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0D19FB-8779-4FE8-A820-B377A2B9326A}"/>
              </a:ext>
            </a:extLst>
          </p:cNvPr>
          <p:cNvSpPr>
            <a:spLocks noGrp="1"/>
          </p:cNvSpPr>
          <p:nvPr/>
        </p:nvSpPr>
        <p:spPr>
          <a:xfrm>
            <a:off x="6915150" y="3257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BF7C9C-2553-49E2-8BCA-07C5B2ABCEF3}"/>
              </a:ext>
            </a:extLst>
          </p:cNvPr>
          <p:cNvSpPr>
            <a:spLocks noGrp="1"/>
          </p:cNvSpPr>
          <p:nvPr/>
        </p:nvSpPr>
        <p:spPr>
          <a:xfrm>
            <a:off x="8343900" y="325755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Select a vehicle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8A897F-6E3E-406B-89EE-787C3A8C0E38}"/>
              </a:ext>
            </a:extLst>
          </p:cNvPr>
          <p:cNvSpPr>
            <a:spLocks noGrp="1"/>
          </p:cNvSpPr>
          <p:nvPr/>
        </p:nvSpPr>
        <p:spPr>
          <a:xfrm>
            <a:off x="6705600" y="3838575"/>
            <a:ext cx="95250" cy="95250"/>
          </a:xfrm>
          <a:prstGeom prst="ellipse">
            <a:avLst/>
          </a:prstGeom>
          <a:solidFill>
            <a:srgbClr val="7357F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39189A-2DFD-47E1-BE89-FC958A212F7B}"/>
              </a:ext>
            </a:extLst>
          </p:cNvPr>
          <p:cNvSpPr>
            <a:spLocks noGrp="1"/>
          </p:cNvSpPr>
          <p:nvPr/>
        </p:nvSpPr>
        <p:spPr>
          <a:xfrm>
            <a:off x="6915150" y="3771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1EF83D-73D3-4D00-8522-7F69DC05F921}"/>
              </a:ext>
            </a:extLst>
          </p:cNvPr>
          <p:cNvSpPr>
            <a:spLocks noGrp="1"/>
          </p:cNvSpPr>
          <p:nvPr/>
        </p:nvSpPr>
        <p:spPr>
          <a:xfrm>
            <a:off x="8343900" y="37719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Enter the buyer name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BECB1-48E2-47BE-AF05-94AE483C4652}"/>
              </a:ext>
            </a:extLst>
          </p:cNvPr>
          <p:cNvSpPr>
            <a:spLocks noGrp="1"/>
          </p:cNvSpPr>
          <p:nvPr/>
        </p:nvSpPr>
        <p:spPr>
          <a:xfrm>
            <a:off x="6705600" y="4352925"/>
            <a:ext cx="95250" cy="95250"/>
          </a:xfrm>
          <a:prstGeom prst="ellipse">
            <a:avLst/>
          </a:prstGeom>
          <a:solidFill>
            <a:srgbClr val="F6C453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0DF789-CAA1-4F98-A9D3-59F82D4F4DA2}"/>
              </a:ext>
            </a:extLst>
          </p:cNvPr>
          <p:cNvSpPr>
            <a:spLocks noGrp="1"/>
          </p:cNvSpPr>
          <p:nvPr/>
        </p:nvSpPr>
        <p:spPr>
          <a:xfrm>
            <a:off x="6915150" y="4286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A65A30-F77A-4581-B8D7-A771E89FBEA2}"/>
              </a:ext>
            </a:extLst>
          </p:cNvPr>
          <p:cNvSpPr>
            <a:spLocks noGrp="1"/>
          </p:cNvSpPr>
          <p:nvPr/>
        </p:nvSpPr>
        <p:spPr>
          <a:xfrm>
            <a:off x="8343900" y="428625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Generate a unique room ID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0A5BB7-F058-4525-BF92-D231FC0BB8F4}"/>
              </a:ext>
            </a:extLst>
          </p:cNvPr>
          <p:cNvSpPr>
            <a:spLocks noGrp="1"/>
          </p:cNvSpPr>
          <p:nvPr/>
        </p:nvSpPr>
        <p:spPr>
          <a:xfrm>
            <a:off x="6705600" y="4867275"/>
            <a:ext cx="95250" cy="95250"/>
          </a:xfrm>
          <a:prstGeom prst="ellipse">
            <a:avLst/>
          </a:prstGeom>
          <a:solidFill>
            <a:srgbClr val="41E5A1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6DD3FD-5D37-43DE-A3B6-2AB05DDF8AB2}"/>
              </a:ext>
            </a:extLst>
          </p:cNvPr>
          <p:cNvSpPr>
            <a:spLocks noGrp="1"/>
          </p:cNvSpPr>
          <p:nvPr/>
        </p:nvSpPr>
        <p:spPr>
          <a:xfrm>
            <a:off x="6915150" y="48006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53E26E-16D7-40FB-8B25-0416C522BFCA}"/>
              </a:ext>
            </a:extLst>
          </p:cNvPr>
          <p:cNvSpPr>
            <a:spLocks noGrp="1"/>
          </p:cNvSpPr>
          <p:nvPr/>
        </p:nvSpPr>
        <p:spPr>
          <a:xfrm>
            <a:off x="8343900" y="48006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9DB2C9"/>
                </a:solidFill>
              </a:defRPr>
            </a:pPr>
            <a:r>
              <a:rPr sz="1275" b="0" i="0">
                <a:solidFill>
                  <a:srgbClr val="9DB2C9"/>
                </a:solidFill>
              </a:rPr>
              <a:t>Open MiroTalk in a new tab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3DA093-498C-486A-92A9-02D8E2626564}"/>
              </a:ext>
            </a:extLst>
          </p:cNvPr>
          <p:cNvSpPr>
            <a:spLocks noGrp="1"/>
          </p:cNvSpPr>
          <p:nvPr/>
        </p:nvSpPr>
        <p:spPr>
          <a:xfrm>
            <a:off x="7086600" y="54864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/join/car-id + buyer + unique-code</a:t>
            </a:r>
          </a:p>
        </p:txBody>
      </p:sp>
    </p:spTree>
    <p:extLst>
      <p:ext uri="{BB962C8B-B14F-4D97-AF65-F5344CB8AC3E}">
        <p14:creationId xmlns:p14="http://schemas.microsoft.com/office/powerpoint/2010/main" val="33886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3D083C9-FF26-4B95-BE20-1395E652C1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689C0-EC27-4AE7-8850-D461FAE3774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90BF0-C7FC-4F45-B3D7-35795147CC7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Temporary HTTPS tunnels enabled secure access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028432A-EB52-4A0C-B1AC-CA0CC5C39400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1539C-A95F-44AD-8E99-8D1E5019DA1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E9B9B3-6EA1-42D1-B72C-C7A23C4C969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0E6066B-DFE6-45BE-BD8F-BCCD79A293E3}"/>
              </a:ext>
            </a:extLst>
          </p:cNvPr>
          <p:cNvSpPr>
            <a:spLocks noGrp="1"/>
          </p:cNvSpPr>
          <p:nvPr/>
        </p:nvSpPr>
        <p:spPr>
          <a:xfrm>
            <a:off x="2781300" y="2895600"/>
            <a:ext cx="1695450" cy="0"/>
          </a:xfrm>
          <a:prstGeom prst="line">
            <a:avLst/>
          </a:prstGeom>
          <a:noFill/>
          <a:ln w="38100">
            <a:solidFill>
              <a:srgbClr val="41E5A1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ECD4F96-4DF6-4227-9038-69E0A1CA29B6}"/>
              </a:ext>
            </a:extLst>
          </p:cNvPr>
          <p:cNvSpPr>
            <a:spLocks noGrp="1"/>
          </p:cNvSpPr>
          <p:nvPr/>
        </p:nvSpPr>
        <p:spPr>
          <a:xfrm>
            <a:off x="7715250" y="2895600"/>
            <a:ext cx="1695450" cy="0"/>
          </a:xfrm>
          <a:prstGeom prst="line">
            <a:avLst/>
          </a:prstGeom>
          <a:noFill/>
          <a:ln w="38100">
            <a:solidFill>
              <a:srgbClr val="25D9F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5FDB70-1AD7-4012-AFDF-8336816E972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476500" cy="1390650"/>
          </a:xfrm>
          <a:prstGeom prst="roundRect">
            <a:avLst>
              <a:gd name="adj" fmla="val 8219"/>
            </a:avLst>
          </a:prstGeom>
          <a:solidFill>
            <a:srgbClr val="10263C"/>
          </a:solidFill>
          <a:ln w="19050">
            <a:solidFill>
              <a:srgbClr val="41E5A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8ADA5-FAD6-4C12-ACC0-576D95DEEE7A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MarketCar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6A25A-A92E-468A-88C6-25CFB3E64163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228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Local server :5001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VS Code Public Dev Tunnel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7F8B4C-B47F-44E2-8601-C172EE1BA521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2857500" cy="1581150"/>
          </a:xfrm>
          <a:prstGeom prst="roundRect">
            <a:avLst>
              <a:gd name="adj" fmla="val 7229"/>
            </a:avLst>
          </a:prstGeom>
          <a:solidFill>
            <a:srgbClr val="10263C"/>
          </a:solidFill>
          <a:ln w="19050">
            <a:solidFill>
              <a:srgbClr val="25D9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A5B708-264E-4C8E-958E-40E0EC9A0915}"/>
              </a:ext>
            </a:extLst>
          </p:cNvPr>
          <p:cNvSpPr>
            <a:spLocks noGrp="1"/>
          </p:cNvSpPr>
          <p:nvPr/>
        </p:nvSpPr>
        <p:spPr>
          <a:xfrm>
            <a:off x="4972050" y="226695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Cloudflare HTTPS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9A2143-2A44-4E5C-A736-C3B5AF50BA2A}"/>
              </a:ext>
            </a:extLst>
          </p:cNvPr>
          <p:cNvSpPr>
            <a:spLocks noGrp="1"/>
          </p:cNvSpPr>
          <p:nvPr/>
        </p:nvSpPr>
        <p:spPr>
          <a:xfrm>
            <a:off x="4953000" y="2590800"/>
            <a:ext cx="266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Quick Tunnel over HTTP/2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temporary public URL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F8B54F-A1CE-4E28-A8F7-6136AD8FCDF4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476500" cy="1390650"/>
          </a:xfrm>
          <a:prstGeom prst="roundRect">
            <a:avLst>
              <a:gd name="adj" fmla="val 8219"/>
            </a:avLst>
          </a:prstGeom>
          <a:solidFill>
            <a:srgbClr val="10263C"/>
          </a:solidFill>
          <a:ln w="19050">
            <a:solidFill>
              <a:srgbClr val="7357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D61E4D-3BD7-4BD9-9EF3-4191A3CAE750}"/>
              </a:ext>
            </a:extLst>
          </p:cNvPr>
          <p:cNvSpPr>
            <a:spLocks noGrp="1"/>
          </p:cNvSpPr>
          <p:nvPr/>
        </p:nvSpPr>
        <p:spPr>
          <a:xfrm>
            <a:off x="9144000" y="236220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MiroTalk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5526CF-7CDA-4BFE-A5B2-86825F9CB7C8}"/>
              </a:ext>
            </a:extLst>
          </p:cNvPr>
          <p:cNvSpPr>
            <a:spLocks noGrp="1"/>
          </p:cNvSpPr>
          <p:nvPr/>
        </p:nvSpPr>
        <p:spPr>
          <a:xfrm>
            <a:off x="9124950" y="2686050"/>
            <a:ext cx="228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pserv :3000</a:t>
            </a:r>
          </a:p>
          <a:p>
            <a:pPr algn="ctr">
              <a:defRPr sz="1125" b="0" i="0">
                <a:solidFill>
                  <a:srgbClr val="9DB2C9"/>
                </a:solidFill>
              </a:defRPr>
            </a:pPr>
            <a:r>
              <a:rPr sz="1125" b="0" i="0">
                <a:solidFill>
                  <a:srgbClr val="9DB2C9"/>
                </a:solidFill>
              </a:rPr>
              <a:t>secure media permissions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4318E8-05B7-432B-AA6D-771A84CF9EA8}"/>
              </a:ext>
            </a:extLst>
          </p:cNvPr>
          <p:cNvSpPr>
            <a:spLocks noGrp="1"/>
          </p:cNvSpPr>
          <p:nvPr/>
        </p:nvSpPr>
        <p:spPr>
          <a:xfrm>
            <a:off x="3333750" y="25527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41E5A1"/>
                </a:solidFill>
              </a:defRPr>
            </a:pPr>
            <a:r>
              <a:rPr sz="1125" b="1" i="0">
                <a:solidFill>
                  <a:srgbClr val="41E5A1"/>
                </a:solidFill>
              </a:rPr>
              <a:t>browser access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61062B-3481-4F43-B0FA-E213A515C944}"/>
              </a:ext>
            </a:extLst>
          </p:cNvPr>
          <p:cNvSpPr>
            <a:spLocks noGrp="1"/>
          </p:cNvSpPr>
          <p:nvPr/>
        </p:nvSpPr>
        <p:spPr>
          <a:xfrm>
            <a:off x="7886700" y="25527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25D9FF"/>
                </a:solidFill>
              </a:defRPr>
            </a:pPr>
            <a:r>
              <a:rPr sz="1125" b="1" i="0">
                <a:solidFill>
                  <a:srgbClr val="25D9FF"/>
                </a:solidFill>
              </a:rPr>
              <a:t>encrypted tunnel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C1A1261-4208-4279-9457-4F4EB8376248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10363200" cy="1104900"/>
          </a:xfrm>
          <a:prstGeom prst="roundRect">
            <a:avLst>
              <a:gd name="adj" fmla="val 10345"/>
            </a:avLst>
          </a:prstGeom>
          <a:solidFill>
            <a:srgbClr val="0A1726"/>
          </a:solidFill>
          <a:ln w="9525">
            <a:solidFill>
              <a:srgbClr val="23415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1514B3-FCA6-4F50-A923-7DDB62458B59}"/>
              </a:ext>
            </a:extLst>
          </p:cNvPr>
          <p:cNvSpPr>
            <a:spLocks noGrp="1"/>
          </p:cNvSpPr>
          <p:nvPr/>
        </p:nvSpPr>
        <p:spPr>
          <a:xfrm>
            <a:off x="1162050" y="46482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F7FAFF"/>
                </a:solidFill>
              </a:defRPr>
            </a:pPr>
            <a:r>
              <a:rPr sz="1650" b="1" i="0">
                <a:solidFill>
                  <a:srgbClr val="F7FAFF"/>
                </a:solidFill>
              </a:rPr>
              <a:t>Why this path?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37B110-06D8-45D1-8765-E8AFEBED03B9}"/>
              </a:ext>
            </a:extLst>
          </p:cNvPr>
          <p:cNvSpPr>
            <a:spLocks noGrp="1"/>
          </p:cNvSpPr>
          <p:nvPr/>
        </p:nvSpPr>
        <p:spPr>
          <a:xfrm>
            <a:off x="1162050" y="50292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9DB2C9"/>
                </a:solidFill>
              </a:defRPr>
            </a:pPr>
            <a:r>
              <a:rPr sz="1350" b="0" i="0">
                <a:solidFill>
                  <a:srgbClr val="9DB2C9"/>
                </a:solidFill>
              </a:rPr>
              <a:t>HTTPS is required for reliable camera and microphone access outside localhost.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7450A4-58AD-4B90-BEDB-41BCE2FE9339}"/>
              </a:ext>
            </a:extLst>
          </p:cNvPr>
          <p:cNvSpPr>
            <a:spLocks noGrp="1"/>
          </p:cNvSpPr>
          <p:nvPr/>
        </p:nvSpPr>
        <p:spPr>
          <a:xfrm>
            <a:off x="7429500" y="4686300"/>
            <a:ext cx="352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F6C453"/>
                </a:solidFill>
              </a:defRPr>
            </a:pPr>
            <a:r>
              <a:rPr sz="1275" b="0" i="0">
                <a:solidFill>
                  <a:srgbClr val="F6C453"/>
                </a:solidFill>
              </a:rPr>
              <a:t>University Fortinet blocked ngrok and Tailscale certificate flows.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8DA461-2FB1-4D2A-8C33-FB76A890D408}"/>
              </a:ext>
            </a:extLst>
          </p:cNvPr>
          <p:cNvSpPr>
            <a:spLocks noGrp="1"/>
          </p:cNvSpPr>
          <p:nvPr/>
        </p:nvSpPr>
        <p:spPr>
          <a:xfrm>
            <a:off x="2266950" y="5848350"/>
            <a:ext cx="7658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7FAFF"/>
                </a:solidFill>
              </a:defRPr>
            </a:pPr>
            <a:r>
              <a:rPr sz="1350" b="1" i="0">
                <a:solidFill>
                  <a:srgbClr val="F7FAFF"/>
                </a:solidFill>
              </a:rPr>
              <a:t>Trade-off: the Quick Tunnel URL changes after restart; only one variable must be updated.</a:t>
            </a:r>
          </a:p>
        </p:txBody>
      </p:sp>
    </p:spTree>
    <p:extLst>
      <p:ext uri="{BB962C8B-B14F-4D97-AF65-F5344CB8AC3E}">
        <p14:creationId xmlns:p14="http://schemas.microsoft.com/office/powerpoint/2010/main" val="180418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6962A96-51C4-4EA5-84A2-A7451E20E6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1B74B6-F8E2-4F44-916D-306FB0A4B06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25D9FF"/>
                </a:solidFill>
              </a:defRPr>
            </a:pPr>
            <a:r>
              <a:rPr sz="1050" b="1" i="0">
                <a:solidFill>
                  <a:srgbClr val="25D9FF"/>
                </a:solidFill>
              </a:rPr>
              <a:t>NETWORK PROGRAMMING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45507-4997-4C36-8090-58A74620FDB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 i="0">
                <a:solidFill>
                  <a:srgbClr val="F7FAFF"/>
                </a:solidFill>
              </a:defRPr>
            </a:pPr>
            <a:r>
              <a:rPr sz="2850" b="1" i="0">
                <a:solidFill>
                  <a:srgbClr val="F7FAFF"/>
                </a:solidFill>
              </a:rPr>
              <a:t>The live demo follows one short, evidence-first sequence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6EB7D3D-92A9-4A70-B3B0-7CE009DDC8C0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2341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100322-4B64-4654-9363-FC45D7FAC67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 i="0">
                <a:solidFill>
                  <a:srgbClr val="617990"/>
                </a:solidFill>
              </a:defRPr>
            </a:pPr>
            <a:r>
              <a:rPr sz="1050" b="1" i="0">
                <a:solidFill>
                  <a:srgbClr val="617990"/>
                </a:solidFill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74662-A7AC-4E88-9FBB-A94DFD85708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617990"/>
                </a:solidFill>
              </a:defRPr>
            </a:pPr>
            <a:r>
              <a:rPr sz="1050" b="0" i="0">
                <a:solidFill>
                  <a:srgbClr val="617990"/>
                </a:solidFill>
              </a:rPr>
              <a:t>Izz Aldeen Mansour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B158D9-7184-4C70-84F4-B1DF29FFFCD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372100" cy="1657350"/>
          </a:xfrm>
          <a:prstGeom prst="roundRect">
            <a:avLst>
              <a:gd name="adj" fmla="val 6897"/>
            </a:avLst>
          </a:prstGeom>
          <a:solidFill>
            <a:srgbClr val="0C1B2C"/>
          </a:solidFill>
          <a:ln w="19050">
            <a:solidFill>
              <a:srgbClr val="25D9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E7486-D265-4881-9A1D-F0AB283B7250}"/>
              </a:ext>
            </a:extLst>
          </p:cNvPr>
          <p:cNvSpPr>
            <a:spLocks noGrp="1"/>
          </p:cNvSpPr>
          <p:nvPr/>
        </p:nvSpPr>
        <p:spPr>
          <a:xfrm>
            <a:off x="838200" y="18669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 i="0">
                <a:solidFill>
                  <a:srgbClr val="25D9FF"/>
                </a:solidFill>
              </a:defRPr>
            </a:pPr>
            <a:r>
              <a:rPr sz="2250" b="1" i="0">
                <a:solidFill>
                  <a:srgbClr val="25D9FF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D8FE47-B23A-4DEE-BC75-F9FFABE44523}"/>
              </a:ext>
            </a:extLst>
          </p:cNvPr>
          <p:cNvSpPr>
            <a:spLocks noGrp="1"/>
          </p:cNvSpPr>
          <p:nvPr/>
        </p:nvSpPr>
        <p:spPr>
          <a:xfrm>
            <a:off x="1600200" y="18669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 i="0">
                <a:solidFill>
                  <a:srgbClr val="F7FAFF"/>
                </a:solidFill>
              </a:defRPr>
            </a:pPr>
            <a:r>
              <a:rPr sz="1950" b="1" i="0">
                <a:solidFill>
                  <a:srgbClr val="F7FAFF"/>
                </a:solidFill>
              </a:rPr>
              <a:t>Service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64BCDA-5D5E-4994-BAF6-1C4A782D10BE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F7FAFF"/>
                </a:solidFill>
              </a:defRPr>
            </a:pPr>
            <a:r>
              <a:rPr sz="1200" b="0" i="0">
                <a:solidFill>
                  <a:srgbClr val="F7FAFF"/>
                </a:solidFill>
              </a:rPr>
              <a:t>docker compose up -d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9F17CD-52A6-4DDE-BF92-E868111F74E7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curl -I 127.0.0.1:3000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77FCCE-77B0-4A48-B1F9-89B61EBC8ABB}"/>
              </a:ext>
            </a:extLst>
          </p:cNvPr>
          <p:cNvSpPr>
            <a:spLocks noGrp="1"/>
          </p:cNvSpPr>
          <p:nvPr/>
        </p:nvSpPr>
        <p:spPr>
          <a:xfrm>
            <a:off x="6210300" y="1676400"/>
            <a:ext cx="5372100" cy="1657350"/>
          </a:xfrm>
          <a:prstGeom prst="roundRect">
            <a:avLst>
              <a:gd name="adj" fmla="val 6897"/>
            </a:avLst>
          </a:prstGeom>
          <a:solidFill>
            <a:srgbClr val="0C1B2C"/>
          </a:solidFill>
          <a:ln w="19050">
            <a:solidFill>
              <a:srgbClr val="735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4B6BCF-03B1-40B2-9B9A-2179045148A4}"/>
              </a:ext>
            </a:extLst>
          </p:cNvPr>
          <p:cNvSpPr>
            <a:spLocks noGrp="1"/>
          </p:cNvSpPr>
          <p:nvPr/>
        </p:nvSpPr>
        <p:spPr>
          <a:xfrm>
            <a:off x="6438900" y="18669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 i="0">
                <a:solidFill>
                  <a:srgbClr val="7357FF"/>
                </a:solidFill>
              </a:defRPr>
            </a:pPr>
            <a:r>
              <a:rPr sz="2250" b="1" i="0">
                <a:solidFill>
                  <a:srgbClr val="7357FF"/>
                </a:solidFill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C3BAFB-8C3E-4F52-BA0D-BC714D29F6B7}"/>
              </a:ext>
            </a:extLst>
          </p:cNvPr>
          <p:cNvSpPr>
            <a:spLocks noGrp="1"/>
          </p:cNvSpPr>
          <p:nvPr/>
        </p:nvSpPr>
        <p:spPr>
          <a:xfrm>
            <a:off x="7200900" y="18669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 i="0">
                <a:solidFill>
                  <a:srgbClr val="F7FAFF"/>
                </a:solidFill>
              </a:defRPr>
            </a:pPr>
            <a:r>
              <a:rPr sz="1950" b="1" i="0">
                <a:solidFill>
                  <a:srgbClr val="F7FAFF"/>
                </a:solidFill>
              </a:rPr>
              <a:t>Topology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AC2B0F-8ABE-4A95-A946-9544F5D0BC7F}"/>
              </a:ext>
            </a:extLst>
          </p:cNvPr>
          <p:cNvSpPr>
            <a:spLocks noGrp="1"/>
          </p:cNvSpPr>
          <p:nvPr/>
        </p:nvSpPr>
        <p:spPr>
          <a:xfrm>
            <a:off x="6477000" y="24955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F7FAFF"/>
                </a:solidFill>
              </a:defRPr>
            </a:pPr>
            <a:r>
              <a:rPr sz="1200" b="0" i="0">
                <a:solidFill>
                  <a:srgbClr val="F7FAFF"/>
                </a:solidFill>
              </a:rPr>
              <a:t>sudo containerlab inspect --all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78CB0C-F281-4567-986F-3097BDF2B7A0}"/>
              </a:ext>
            </a:extLst>
          </p:cNvPr>
          <p:cNvSpPr>
            <a:spLocks noGrp="1"/>
          </p:cNvSpPr>
          <p:nvPr/>
        </p:nvSpPr>
        <p:spPr>
          <a:xfrm>
            <a:off x="6477000" y="2838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docker ps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BF6F84-1143-4D5A-A2AC-FC8040E72467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372100" cy="1657350"/>
          </a:xfrm>
          <a:prstGeom prst="roundRect">
            <a:avLst>
              <a:gd name="adj" fmla="val 6897"/>
            </a:avLst>
          </a:prstGeom>
          <a:solidFill>
            <a:srgbClr val="0C1B2C"/>
          </a:solidFill>
          <a:ln w="19050">
            <a:solidFill>
              <a:srgbClr val="41E5A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28A549-C49C-4937-B298-6D4650DBBDFE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 i="0">
                <a:solidFill>
                  <a:srgbClr val="41E5A1"/>
                </a:solidFill>
              </a:defRPr>
            </a:pPr>
            <a:r>
              <a:rPr sz="2250" b="1" i="0">
                <a:solidFill>
                  <a:srgbClr val="41E5A1"/>
                </a:solidFill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B224C7-6CDE-43D0-8005-6F2687CD510A}"/>
              </a:ext>
            </a:extLst>
          </p:cNvPr>
          <p:cNvSpPr>
            <a:spLocks noGrp="1"/>
          </p:cNvSpPr>
          <p:nvPr/>
        </p:nvSpPr>
        <p:spPr>
          <a:xfrm>
            <a:off x="1600200" y="3924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 i="0">
                <a:solidFill>
                  <a:srgbClr val="F7FAFF"/>
                </a:solidFill>
              </a:defRPr>
            </a:pPr>
            <a:r>
              <a:rPr sz="1950" b="1" i="0">
                <a:solidFill>
                  <a:srgbClr val="F7FAFF"/>
                </a:solidFill>
              </a:rPr>
              <a:t>Reachability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82B82D-6B1B-44EE-82D4-D77BC9AAC37A}"/>
              </a:ext>
            </a:extLst>
          </p:cNvPr>
          <p:cNvSpPr>
            <a:spLocks noGrp="1"/>
          </p:cNvSpPr>
          <p:nvPr/>
        </p:nvSpPr>
        <p:spPr>
          <a:xfrm>
            <a:off x="876300" y="45529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F7FAFF"/>
                </a:solidFill>
              </a:defRPr>
            </a:pPr>
            <a:r>
              <a:rPr sz="1200" b="0" i="0">
                <a:solidFill>
                  <a:srgbClr val="F7FAFF"/>
                </a:solidFill>
              </a:rPr>
              <a:t>./scripts/test-lab.sh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C3DD1-21A9-461C-924F-2D54028B8140}"/>
              </a:ext>
            </a:extLst>
          </p:cNvPr>
          <p:cNvSpPr>
            <a:spLocks noGrp="1"/>
          </p:cNvSpPr>
          <p:nvPr/>
        </p:nvSpPr>
        <p:spPr>
          <a:xfrm>
            <a:off x="876300" y="48958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wget … 10.30.0.10:3000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F9075A-FF93-48F9-B4E4-09A77D744D7B}"/>
              </a:ext>
            </a:extLst>
          </p:cNvPr>
          <p:cNvSpPr>
            <a:spLocks noGrp="1"/>
          </p:cNvSpPr>
          <p:nvPr/>
        </p:nvSpPr>
        <p:spPr>
          <a:xfrm>
            <a:off x="6210300" y="3733800"/>
            <a:ext cx="5372100" cy="1657350"/>
          </a:xfrm>
          <a:prstGeom prst="roundRect">
            <a:avLst>
              <a:gd name="adj" fmla="val 6897"/>
            </a:avLst>
          </a:prstGeom>
          <a:solidFill>
            <a:srgbClr val="0C1B2C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F3CFB0-8B81-4D2F-8F2D-7AEB2EC6A992}"/>
              </a:ext>
            </a:extLst>
          </p:cNvPr>
          <p:cNvSpPr>
            <a:spLocks noGrp="1"/>
          </p:cNvSpPr>
          <p:nvPr/>
        </p:nvSpPr>
        <p:spPr>
          <a:xfrm>
            <a:off x="6438900" y="39243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 i="0">
                <a:solidFill>
                  <a:srgbClr val="F6C453"/>
                </a:solidFill>
              </a:defRPr>
            </a:pPr>
            <a:r>
              <a:rPr sz="2250" b="1" i="0">
                <a:solidFill>
                  <a:srgbClr val="F6C453"/>
                </a:solidFill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B85E22-B370-4575-917C-0C06B71E48A5}"/>
              </a:ext>
            </a:extLst>
          </p:cNvPr>
          <p:cNvSpPr>
            <a:spLocks noGrp="1"/>
          </p:cNvSpPr>
          <p:nvPr/>
        </p:nvSpPr>
        <p:spPr>
          <a:xfrm>
            <a:off x="7200900" y="3924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 i="0">
                <a:solidFill>
                  <a:srgbClr val="F7FAFF"/>
                </a:solidFill>
              </a:defRPr>
            </a:pPr>
            <a:r>
              <a:rPr sz="1950" b="1" i="0">
                <a:solidFill>
                  <a:srgbClr val="F7FAFF"/>
                </a:solidFill>
              </a:rPr>
              <a:t>Integration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00CD32-DD7B-4BD9-90BA-5ABFC9A19F23}"/>
              </a:ext>
            </a:extLst>
          </p:cNvPr>
          <p:cNvSpPr>
            <a:spLocks noGrp="1"/>
          </p:cNvSpPr>
          <p:nvPr/>
        </p:nvSpPr>
        <p:spPr>
          <a:xfrm>
            <a:off x="6477000" y="45529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F7FAFF"/>
                </a:solidFill>
              </a:defRPr>
            </a:pPr>
            <a:r>
              <a:rPr sz="1200" b="0" i="0">
                <a:solidFill>
                  <a:srgbClr val="F7FAFF"/>
                </a:solidFill>
              </a:rPr>
              <a:t>Start Cloudflare tunnel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F407A0-91BD-4468-A532-C651297CD85E}"/>
              </a:ext>
            </a:extLst>
          </p:cNvPr>
          <p:cNvSpPr>
            <a:spLocks noGrp="1"/>
          </p:cNvSpPr>
          <p:nvPr/>
        </p:nvSpPr>
        <p:spPr>
          <a:xfrm>
            <a:off x="6477000" y="48958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MarketCar → video meeting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629EFC-9E78-42DA-995B-E9006EA56B8A}"/>
              </a:ext>
            </a:extLst>
          </p:cNvPr>
          <p:cNvSpPr>
            <a:spLocks noGrp="1"/>
          </p:cNvSpPr>
          <p:nvPr/>
        </p:nvSpPr>
        <p:spPr>
          <a:xfrm>
            <a:off x="1257300" y="5791200"/>
            <a:ext cx="9677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F7FAFF"/>
                </a:solidFill>
              </a:defRPr>
            </a:pPr>
            <a:r>
              <a:rPr sz="1500" b="1" i="0">
                <a:solidFill>
                  <a:srgbClr val="F7FAFF"/>
                </a:solidFill>
              </a:rPr>
              <a:t>End with two devices inside the same MiroTalk room: video, audio, chat, and screen share.</a:t>
            </a:r>
          </a:p>
        </p:txBody>
      </p:sp>
    </p:spTree>
    <p:extLst>
      <p:ext uri="{BB962C8B-B14F-4D97-AF65-F5344CB8AC3E}">
        <p14:creationId xmlns:p14="http://schemas.microsoft.com/office/powerpoint/2010/main" val="2360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581DFF-9AB6-4F3F-8F43-61A918A98A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>
              <a:alpha val="87451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497D3-AF43-48F5-BE7C-2B79B2D6C63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25D9FF"/>
                </a:solidFill>
              </a:defRPr>
            </a:pPr>
            <a:r>
              <a:rPr sz="1125" b="1" i="0">
                <a:solidFill>
                  <a:srgbClr val="25D9FF"/>
                </a:solidFill>
              </a:rPr>
              <a:t>THE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DAA5B-DFE8-4D7E-954A-A800084E9516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7810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 i="0">
                <a:solidFill>
                  <a:srgbClr val="F7FAFF"/>
                </a:solidFill>
              </a:defRPr>
            </a:pPr>
            <a:r>
              <a:rPr sz="3450" b="1" i="0">
                <a:solidFill>
                  <a:srgbClr val="F7FAFF"/>
                </a:solidFill>
              </a:rPr>
              <a:t>A complete service path —</a:t>
            </a:r>
          </a:p>
          <a:p>
            <a:pPr algn="l">
              <a:defRPr sz="3450" b="1" i="0">
                <a:solidFill>
                  <a:srgbClr val="F7FAFF"/>
                </a:solidFill>
              </a:defRPr>
            </a:pPr>
            <a:r>
              <a:rPr sz="3450" b="1" i="0">
                <a:solidFill>
                  <a:srgbClr val="F7FAFF"/>
                </a:solidFill>
              </a:rPr>
              <a:t>from network to user experience.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21281A-F2E1-4907-8805-414AF44C51AD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7150" cy="85725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F594D2-2679-4FFF-A49B-2AA076E2EEC3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 i="0">
                <a:solidFill>
                  <a:srgbClr val="F7FAFF"/>
                </a:solidFill>
              </a:defRPr>
            </a:pPr>
            <a:r>
              <a:rPr sz="1575" b="1" i="0">
                <a:solidFill>
                  <a:srgbClr val="F7FAFF"/>
                </a:solidFill>
              </a:rPr>
              <a:t>Self-hosted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95C561-AA92-485B-9430-0AC425A40EDD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MiroTalk on pserv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29CD1-8941-490C-B088-791D0B934D51}"/>
              </a:ext>
            </a:extLst>
          </p:cNvPr>
          <p:cNvSpPr>
            <a:spLocks noGrp="1"/>
          </p:cNvSpPr>
          <p:nvPr/>
        </p:nvSpPr>
        <p:spPr>
          <a:xfrm>
            <a:off x="2781300" y="2990850"/>
            <a:ext cx="57150" cy="857250"/>
          </a:xfrm>
          <a:prstGeom prst="rect">
            <a:avLst/>
          </a:prstGeom>
          <a:solidFill>
            <a:srgbClr val="25D9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EE2C0F-4320-4138-86F9-C77F810DCB5F}"/>
              </a:ext>
            </a:extLst>
          </p:cNvPr>
          <p:cNvSpPr>
            <a:spLocks noGrp="1"/>
          </p:cNvSpPr>
          <p:nvPr/>
        </p:nvSpPr>
        <p:spPr>
          <a:xfrm>
            <a:off x="2952750" y="2971800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 i="0">
                <a:solidFill>
                  <a:srgbClr val="F7FAFF"/>
                </a:solidFill>
              </a:defRPr>
            </a:pPr>
            <a:r>
              <a:rPr sz="1575" b="1" i="0">
                <a:solidFill>
                  <a:srgbClr val="F7FAFF"/>
                </a:solidFill>
              </a:rPr>
              <a:t>Routed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AC44B1-779E-4324-8F72-B410380782F1}"/>
              </a:ext>
            </a:extLst>
          </p:cNvPr>
          <p:cNvSpPr>
            <a:spLocks noGrp="1"/>
          </p:cNvSpPr>
          <p:nvPr/>
        </p:nvSpPr>
        <p:spPr>
          <a:xfrm>
            <a:off x="2952750" y="335280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Two client subnets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1EA40-A184-4B67-B027-265173CA0602}"/>
              </a:ext>
            </a:extLst>
          </p:cNvPr>
          <p:cNvSpPr>
            <a:spLocks noGrp="1"/>
          </p:cNvSpPr>
          <p:nvPr/>
        </p:nvSpPr>
        <p:spPr>
          <a:xfrm>
            <a:off x="4953000" y="2990850"/>
            <a:ext cx="57150" cy="857250"/>
          </a:xfrm>
          <a:prstGeom prst="rect">
            <a:avLst/>
          </a:prstGeom>
          <a:solidFill>
            <a:srgbClr val="7357F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96771-DA54-4F65-8F83-60D8DB7D4E0D}"/>
              </a:ext>
            </a:extLst>
          </p:cNvPr>
          <p:cNvSpPr>
            <a:spLocks noGrp="1"/>
          </p:cNvSpPr>
          <p:nvPr/>
        </p:nvSpPr>
        <p:spPr>
          <a:xfrm>
            <a:off x="5124450" y="2971800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 i="0">
                <a:solidFill>
                  <a:srgbClr val="F7FAFF"/>
                </a:solidFill>
              </a:defRPr>
            </a:pPr>
            <a:r>
              <a:rPr sz="1575" b="1" i="0">
                <a:solidFill>
                  <a:srgbClr val="F7FAFF"/>
                </a:solidFill>
              </a:rPr>
              <a:t>Verified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F9CAE-4FBC-4D2D-BEFB-045CBDB2F545}"/>
              </a:ext>
            </a:extLst>
          </p:cNvPr>
          <p:cNvSpPr>
            <a:spLocks noGrp="1"/>
          </p:cNvSpPr>
          <p:nvPr/>
        </p:nvSpPr>
        <p:spPr>
          <a:xfrm>
            <a:off x="5124450" y="335280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HTTP 200 from clients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904D9A-7CC8-4DEA-AABA-F7986A72C303}"/>
              </a:ext>
            </a:extLst>
          </p:cNvPr>
          <p:cNvSpPr>
            <a:spLocks noGrp="1"/>
          </p:cNvSpPr>
          <p:nvPr/>
        </p:nvSpPr>
        <p:spPr>
          <a:xfrm>
            <a:off x="7124700" y="2990850"/>
            <a:ext cx="57150" cy="857250"/>
          </a:xfrm>
          <a:prstGeom prst="rect">
            <a:avLst/>
          </a:prstGeom>
          <a:solidFill>
            <a:srgbClr val="7357F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18F502-6206-44FB-B494-D1FFAB8887F3}"/>
              </a:ext>
            </a:extLst>
          </p:cNvPr>
          <p:cNvSpPr>
            <a:spLocks noGrp="1"/>
          </p:cNvSpPr>
          <p:nvPr/>
        </p:nvSpPr>
        <p:spPr>
          <a:xfrm>
            <a:off x="7296150" y="2971800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 i="0">
                <a:solidFill>
                  <a:srgbClr val="F7FAFF"/>
                </a:solidFill>
              </a:defRPr>
            </a:pPr>
            <a:r>
              <a:rPr sz="1575" b="1" i="0">
                <a:solidFill>
                  <a:srgbClr val="F7FAFF"/>
                </a:solidFill>
              </a:rPr>
              <a:t>Secure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DCB9B3-3CE8-44C5-89AD-64AE274DC988}"/>
              </a:ext>
            </a:extLst>
          </p:cNvPr>
          <p:cNvSpPr>
            <a:spLocks noGrp="1"/>
          </p:cNvSpPr>
          <p:nvPr/>
        </p:nvSpPr>
        <p:spPr>
          <a:xfrm>
            <a:off x="7296150" y="335280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HTTPS tunnel for media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4D6688-E545-40FB-A182-BB59AC28C113}"/>
              </a:ext>
            </a:extLst>
          </p:cNvPr>
          <p:cNvSpPr>
            <a:spLocks noGrp="1"/>
          </p:cNvSpPr>
          <p:nvPr/>
        </p:nvSpPr>
        <p:spPr>
          <a:xfrm>
            <a:off x="9296400" y="2990850"/>
            <a:ext cx="57150" cy="857250"/>
          </a:xfrm>
          <a:prstGeom prst="rect">
            <a:avLst/>
          </a:prstGeom>
          <a:solidFill>
            <a:srgbClr val="41E5A1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F124D0-2CF3-43F4-A6C5-6E7527BF1BC9}"/>
              </a:ext>
            </a:extLst>
          </p:cNvPr>
          <p:cNvSpPr>
            <a:spLocks noGrp="1"/>
          </p:cNvSpPr>
          <p:nvPr/>
        </p:nvSpPr>
        <p:spPr>
          <a:xfrm>
            <a:off x="9467850" y="2971800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 i="0">
                <a:solidFill>
                  <a:srgbClr val="F7FAFF"/>
                </a:solidFill>
              </a:defRPr>
            </a:pPr>
            <a:r>
              <a:rPr sz="1575" b="1" i="0">
                <a:solidFill>
                  <a:srgbClr val="F7FAFF"/>
                </a:solidFill>
              </a:rPr>
              <a:t>Integrated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BA2F6B-F36D-4240-A8BB-B8ED52F230D1}"/>
              </a:ext>
            </a:extLst>
          </p:cNvPr>
          <p:cNvSpPr>
            <a:spLocks noGrp="1"/>
          </p:cNvSpPr>
          <p:nvPr/>
        </p:nvSpPr>
        <p:spPr>
          <a:xfrm>
            <a:off x="9467850" y="335280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9DB2C9"/>
                </a:solidFill>
              </a:defRPr>
            </a:pPr>
            <a:r>
              <a:rPr sz="1200" b="0" i="0">
                <a:solidFill>
                  <a:srgbClr val="9DB2C9"/>
                </a:solidFill>
              </a:rPr>
              <a:t>MarketCar launches rooms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EF0B8C8-4305-4ADF-BB11-272D3E3E69F3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noFill/>
          <a:ln w="9525">
            <a:solidFill>
              <a:srgbClr val="2D55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3E033F-CF5B-4E9D-AFE1-96BA2EF6A3E7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F6C453"/>
                </a:solidFill>
              </a:defRPr>
            </a:pPr>
            <a:r>
              <a:rPr sz="1350" b="0" i="0">
                <a:solidFill>
                  <a:srgbClr val="F6C453"/>
                </a:solidFill>
              </a:rPr>
              <a:t>Next: multi-vendor router image • persistent domain/tunnel • TURN for restrictive NAT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2DC995-4C02-441B-A9B7-28CEFE11FBAE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F7FAFF"/>
                </a:solidFill>
              </a:defRPr>
            </a:pPr>
            <a:r>
              <a:rPr sz="1800" b="1" i="0">
                <a:solidFill>
                  <a:srgbClr val="F7FAFF"/>
                </a:solidFill>
              </a:rPr>
              <a:t>The project now demonstrates application, infrastructure, routing, secure access, and integration.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1ACEA2-39F8-4BC8-9657-F0D608A94537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25D9FF"/>
                </a:solidFill>
              </a:defRPr>
            </a:pPr>
            <a:r>
              <a:rPr sz="1350" b="1" i="0">
                <a:solidFill>
                  <a:srgbClr val="25D9FF"/>
                </a:solidFill>
              </a:rPr>
              <a:t>Questions &amp; live demo</a:t>
            </a:r>
          </a:p>
        </p:txBody>
      </p:sp>
    </p:spTree>
    <p:extLst>
      <p:ext uri="{BB962C8B-B14F-4D97-AF65-F5344CB8AC3E}">
        <p14:creationId xmlns:p14="http://schemas.microsoft.com/office/powerpoint/2010/main" val="20566116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Office PowerPoint</Application>
  <DocSecurity>0</DocSecurity>
  <PresentationFormat>Widescreen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izz aldin mansour</cp:lastModifiedBy>
  <cp:revision>1</cp:revision>
  <dcterms:created xsi:type="dcterms:W3CDTF">2026-08-02T11:02:14Z</dcterms:created>
  <dcterms:modified xsi:type="dcterms:W3CDTF">2026-08-02T11:16:52Z</dcterms:modified>
</cp:coreProperties>
</file>